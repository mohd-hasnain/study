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7" r:id="rId11"/>
    <p:sldId id="278" r:id="rId12"/>
    <p:sldId id="279" r:id="rId13"/>
    <p:sldId id="280" r:id="rId14"/>
    <p:sldId id="265" r:id="rId15"/>
    <p:sldId id="266" r:id="rId16"/>
    <p:sldId id="267" r:id="rId17"/>
    <p:sldId id="268" r:id="rId18"/>
    <p:sldId id="269" r:id="rId19"/>
    <p:sldId id="270" r:id="rId20"/>
    <p:sldId id="271" r:id="rId21"/>
    <p:sldId id="282" r:id="rId22"/>
    <p:sldId id="272" r:id="rId23"/>
    <p:sldId id="273" r:id="rId24"/>
    <p:sldId id="274" r:id="rId25"/>
    <p:sldId id="275" r:id="rId26"/>
    <p:sldId id="276" r:id="rId27"/>
    <p:sldId id="28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7" d="100"/>
          <a:sy n="87" d="100"/>
        </p:scale>
        <p:origin x="-146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9/14/2014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902826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9/14/2014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26222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906439-F454-4022-B79B-9B7FBADAC060}" type="datetimeFigureOut">
              <a:rPr lang="en-US" smtClean="0"/>
              <a:t>9/14/2014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1193452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906439-F454-4022-B79B-9B7FBADAC060}" type="datetimeFigureOut">
              <a:rPr lang="en-US" smtClean="0"/>
              <a:t>9/14/2014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324602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7906439-F454-4022-B79B-9B7FBADAC060}" type="datetimeFigureOut">
              <a:rPr lang="en-US" smtClean="0"/>
              <a:t>9/14/2014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72628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7906439-F454-4022-B79B-9B7FBADAC060}" type="datetimeFigureOut">
              <a:rPr lang="en-US" smtClean="0"/>
              <a:t>9/14/2014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3280376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906439-F454-4022-B79B-9B7FBADAC060}" type="datetimeFigureOut">
              <a:rPr lang="en-US" smtClean="0"/>
              <a:t>9/14/2014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427342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906439-F454-4022-B79B-9B7FBADAC060}" type="datetimeFigureOut">
              <a:rPr lang="en-US" smtClean="0"/>
              <a:t>9/14/2014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518038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906439-F454-4022-B79B-9B7FBADAC060}" type="datetimeFigureOut">
              <a:rPr lang="en-US" smtClean="0"/>
              <a:t>9/14/2014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1686724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9/14/2014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193059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906439-F454-4022-B79B-9B7FBADAC060}" type="datetimeFigureOut">
              <a:rPr lang="en-US" smtClean="0"/>
              <a:t>9/14/2014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0B02B-286B-4C88-AC97-658498CB3C15}" type="slidenum">
              <a:rPr lang="en-US" smtClean="0"/>
              <a:t>‹#›</a:t>
            </a:fld>
            <a:endParaRPr lang="en-US"/>
          </a:p>
        </p:txBody>
      </p:sp>
    </p:spTree>
    <p:extLst>
      <p:ext uri="{BB962C8B-B14F-4D97-AF65-F5344CB8AC3E}">
        <p14:creationId xmlns:p14="http://schemas.microsoft.com/office/powerpoint/2010/main" val="221541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906439-F454-4022-B79B-9B7FBADAC060}" type="datetimeFigureOut">
              <a:rPr lang="en-US" smtClean="0"/>
              <a:t>9/14/2014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0B02B-286B-4C88-AC97-658498CB3C15}" type="slidenum">
              <a:rPr lang="en-US" smtClean="0"/>
              <a:t>‹#›</a:t>
            </a:fld>
            <a:endParaRPr lang="en-US"/>
          </a:p>
        </p:txBody>
      </p:sp>
    </p:spTree>
    <p:extLst>
      <p:ext uri="{BB962C8B-B14F-4D97-AF65-F5344CB8AC3E}">
        <p14:creationId xmlns:p14="http://schemas.microsoft.com/office/powerpoint/2010/main" val="3595235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MapReduce</a:t>
            </a:r>
            <a:endParaRPr lang="en-US" dirty="0"/>
          </a:p>
        </p:txBody>
      </p:sp>
      <p:sp>
        <p:nvSpPr>
          <p:cNvPr id="3" name="Subtitle 2"/>
          <p:cNvSpPr>
            <a:spLocks noGrp="1"/>
          </p:cNvSpPr>
          <p:nvPr>
            <p:ph type="subTitle" idx="1"/>
          </p:nvPr>
        </p:nvSpPr>
        <p:spPr/>
        <p:txBody>
          <a:bodyPr/>
          <a:lstStyle/>
          <a:p>
            <a:r>
              <a:rPr lang="en-US" dirty="0" err="1" smtClean="0"/>
              <a:t>Mohd</a:t>
            </a:r>
            <a:r>
              <a:rPr lang="en-US" dirty="0" smtClean="0"/>
              <a:t> </a:t>
            </a:r>
            <a:r>
              <a:rPr lang="en-US" dirty="0" err="1" smtClean="0"/>
              <a:t>Hasnain</a:t>
            </a:r>
            <a:endParaRPr lang="en-US" dirty="0"/>
          </a:p>
        </p:txBody>
      </p:sp>
    </p:spTree>
    <p:extLst>
      <p:ext uri="{BB962C8B-B14F-4D97-AF65-F5344CB8AC3E}">
        <p14:creationId xmlns:p14="http://schemas.microsoft.com/office/powerpoint/2010/main" val="2831533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2800" dirty="0"/>
              <a:t>How </a:t>
            </a:r>
            <a:r>
              <a:rPr lang="en-US" sz="2800" dirty="0" err="1"/>
              <a:t>MapReduce</a:t>
            </a:r>
            <a:r>
              <a:rPr lang="en-US" sz="2800" dirty="0"/>
              <a:t> </a:t>
            </a:r>
            <a:r>
              <a:rPr lang="en-US" sz="2800" dirty="0" smtClean="0"/>
              <a:t>Works? - </a:t>
            </a:r>
            <a:r>
              <a:rPr lang="en-US" sz="2800" dirty="0"/>
              <a:t>Classic </a:t>
            </a:r>
            <a:r>
              <a:rPr lang="en-US" sz="2800" dirty="0" err="1"/>
              <a:t>MapReduce</a:t>
            </a:r>
            <a:endParaRPr lang="en-US" sz="2800" dirty="0"/>
          </a:p>
        </p:txBody>
      </p:sp>
      <p:sp>
        <p:nvSpPr>
          <p:cNvPr id="3" name="Content Placeholder 2"/>
          <p:cNvSpPr>
            <a:spLocks noGrp="1"/>
          </p:cNvSpPr>
          <p:nvPr>
            <p:ph idx="1"/>
          </p:nvPr>
        </p:nvSpPr>
        <p:spPr>
          <a:xfrm>
            <a:off x="457200" y="914400"/>
            <a:ext cx="8229600" cy="5211763"/>
          </a:xfrm>
        </p:spPr>
        <p:txBody>
          <a:bodyPr>
            <a:noAutofit/>
          </a:bodyPr>
          <a:lstStyle/>
          <a:p>
            <a:r>
              <a:rPr lang="en-US" sz="2800" dirty="0" smtClean="0"/>
              <a:t>Four </a:t>
            </a:r>
            <a:r>
              <a:rPr lang="en-US" sz="2800" dirty="0"/>
              <a:t>independent </a:t>
            </a:r>
            <a:r>
              <a:rPr lang="en-US" sz="2800" dirty="0" smtClean="0"/>
              <a:t>entities:</a:t>
            </a:r>
          </a:p>
          <a:p>
            <a:r>
              <a:rPr lang="en-US" sz="2800" dirty="0"/>
              <a:t>The client, which submits the </a:t>
            </a:r>
            <a:r>
              <a:rPr lang="en-US" sz="2800" dirty="0" err="1"/>
              <a:t>MapReduce</a:t>
            </a:r>
            <a:r>
              <a:rPr lang="en-US" sz="2800" dirty="0"/>
              <a:t> job.</a:t>
            </a:r>
          </a:p>
          <a:p>
            <a:r>
              <a:rPr lang="en-US" sz="2800" dirty="0" smtClean="0"/>
              <a:t>The </a:t>
            </a:r>
            <a:r>
              <a:rPr lang="en-US" sz="2800" dirty="0" err="1"/>
              <a:t>jobtracker</a:t>
            </a:r>
            <a:r>
              <a:rPr lang="en-US" sz="2800" dirty="0"/>
              <a:t>, which coordinates the job run. The </a:t>
            </a:r>
            <a:r>
              <a:rPr lang="en-US" sz="2800" dirty="0" err="1"/>
              <a:t>jobtracker</a:t>
            </a:r>
            <a:r>
              <a:rPr lang="en-US" sz="2800" dirty="0"/>
              <a:t> is a Java </a:t>
            </a:r>
            <a:r>
              <a:rPr lang="en-US" sz="2800" dirty="0" smtClean="0"/>
              <a:t>application whose </a:t>
            </a:r>
            <a:r>
              <a:rPr lang="en-US" sz="2800" dirty="0"/>
              <a:t>main class is </a:t>
            </a:r>
            <a:r>
              <a:rPr lang="en-US" sz="2800" dirty="0" err="1"/>
              <a:t>JobTracker</a:t>
            </a:r>
            <a:r>
              <a:rPr lang="en-US" sz="2800" dirty="0"/>
              <a:t>.</a:t>
            </a:r>
          </a:p>
          <a:p>
            <a:r>
              <a:rPr lang="en-US" sz="2800" dirty="0" smtClean="0"/>
              <a:t>The </a:t>
            </a:r>
            <a:r>
              <a:rPr lang="en-US" sz="2800" dirty="0" err="1"/>
              <a:t>tasktrackers</a:t>
            </a:r>
            <a:r>
              <a:rPr lang="en-US" sz="2800" dirty="0"/>
              <a:t>, which run the tasks that the job has been split into. </a:t>
            </a:r>
            <a:r>
              <a:rPr lang="en-US" sz="2800" dirty="0" err="1" smtClean="0"/>
              <a:t>Tasktrackers</a:t>
            </a:r>
            <a:r>
              <a:rPr lang="en-US" sz="2800" dirty="0" smtClean="0"/>
              <a:t> are </a:t>
            </a:r>
            <a:r>
              <a:rPr lang="en-US" sz="2800" dirty="0"/>
              <a:t>Java applications whose main class is </a:t>
            </a:r>
            <a:r>
              <a:rPr lang="en-US" sz="2800" dirty="0" err="1"/>
              <a:t>TaskTracker</a:t>
            </a:r>
            <a:r>
              <a:rPr lang="en-US" sz="2800" dirty="0"/>
              <a:t>.</a:t>
            </a:r>
          </a:p>
          <a:p>
            <a:r>
              <a:rPr lang="en-US" sz="2800" dirty="0" smtClean="0"/>
              <a:t>The </a:t>
            </a:r>
            <a:r>
              <a:rPr lang="en-US" sz="2800" dirty="0"/>
              <a:t>distributed </a:t>
            </a:r>
            <a:r>
              <a:rPr lang="en-US" sz="2800" dirty="0" err="1"/>
              <a:t>filesystem</a:t>
            </a:r>
            <a:r>
              <a:rPr lang="en-US" sz="2800" dirty="0"/>
              <a:t> (normally </a:t>
            </a:r>
            <a:r>
              <a:rPr lang="en-US" sz="2800" dirty="0" smtClean="0"/>
              <a:t>HDFS), </a:t>
            </a:r>
            <a:r>
              <a:rPr lang="en-US" sz="2800" dirty="0"/>
              <a:t>which is </a:t>
            </a:r>
            <a:r>
              <a:rPr lang="en-US" sz="2800" dirty="0" smtClean="0"/>
              <a:t>used for </a:t>
            </a:r>
            <a:r>
              <a:rPr lang="en-US" sz="2800" dirty="0"/>
              <a:t>sharing job files between the other entities.</a:t>
            </a:r>
          </a:p>
        </p:txBody>
      </p:sp>
    </p:spTree>
    <p:extLst>
      <p:ext uri="{BB962C8B-B14F-4D97-AF65-F5344CB8AC3E}">
        <p14:creationId xmlns:p14="http://schemas.microsoft.com/office/powerpoint/2010/main" val="1954804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663" y="619125"/>
            <a:ext cx="6924675" cy="561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30052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t>YARN - </a:t>
            </a:r>
            <a:r>
              <a:rPr lang="en-US" sz="3600" dirty="0"/>
              <a:t>Yet Another Resource Negotiator</a:t>
            </a:r>
          </a:p>
        </p:txBody>
      </p:sp>
      <p:sp>
        <p:nvSpPr>
          <p:cNvPr id="3" name="Content Placeholder 2"/>
          <p:cNvSpPr>
            <a:spLocks noGrp="1"/>
          </p:cNvSpPr>
          <p:nvPr>
            <p:ph idx="1"/>
          </p:nvPr>
        </p:nvSpPr>
        <p:spPr>
          <a:xfrm>
            <a:off x="457200" y="1066800"/>
            <a:ext cx="8229600" cy="5334000"/>
          </a:xfrm>
        </p:spPr>
        <p:txBody>
          <a:bodyPr>
            <a:normAutofit/>
          </a:bodyPr>
          <a:lstStyle/>
          <a:p>
            <a:r>
              <a:rPr lang="en-US" sz="1800" dirty="0"/>
              <a:t>For very large clusters in the region of 4000 nodes and higher, the </a:t>
            </a:r>
            <a:r>
              <a:rPr lang="en-US" sz="1800" dirty="0" err="1"/>
              <a:t>MapReduce</a:t>
            </a:r>
            <a:r>
              <a:rPr lang="en-US" sz="1800" dirty="0"/>
              <a:t> </a:t>
            </a:r>
            <a:r>
              <a:rPr lang="en-US" sz="1800" dirty="0" smtClean="0"/>
              <a:t>system described </a:t>
            </a:r>
            <a:r>
              <a:rPr lang="en-US" sz="1800" dirty="0"/>
              <a:t>in the previous section begins to hit scalability bottlenecks, so in 2010 a </a:t>
            </a:r>
            <a:r>
              <a:rPr lang="en-US" sz="1800" dirty="0" smtClean="0"/>
              <a:t>group at </a:t>
            </a:r>
            <a:r>
              <a:rPr lang="en-US" sz="1800" dirty="0"/>
              <a:t>Yahoo! began to design the next generation of </a:t>
            </a:r>
            <a:r>
              <a:rPr lang="en-US" sz="1800" dirty="0" err="1" smtClean="0"/>
              <a:t>MapReduce</a:t>
            </a:r>
            <a:endParaRPr lang="en-US" sz="1800" dirty="0" smtClean="0"/>
          </a:p>
          <a:p>
            <a:r>
              <a:rPr lang="en-US" sz="1800" dirty="0"/>
              <a:t>YARN meets the scalability shortcomings of “classic” </a:t>
            </a:r>
            <a:r>
              <a:rPr lang="en-US" sz="1800" dirty="0" err="1"/>
              <a:t>MapReduce</a:t>
            </a:r>
            <a:r>
              <a:rPr lang="en-US" sz="1800" dirty="0"/>
              <a:t> by splitting the </a:t>
            </a:r>
            <a:r>
              <a:rPr lang="en-US" sz="1800" dirty="0" smtClean="0"/>
              <a:t>responsibilities of </a:t>
            </a:r>
            <a:r>
              <a:rPr lang="en-US" sz="1800" dirty="0"/>
              <a:t>the </a:t>
            </a:r>
            <a:r>
              <a:rPr lang="en-US" sz="1800" dirty="0" err="1"/>
              <a:t>jobtracker</a:t>
            </a:r>
            <a:r>
              <a:rPr lang="en-US" sz="1800" dirty="0"/>
              <a:t> into separate entities. </a:t>
            </a:r>
            <a:endParaRPr lang="en-US" sz="1800" dirty="0" smtClean="0"/>
          </a:p>
          <a:p>
            <a:r>
              <a:rPr lang="en-US" sz="1800" dirty="0" smtClean="0"/>
              <a:t>The </a:t>
            </a:r>
            <a:r>
              <a:rPr lang="en-US" sz="1800" dirty="0" err="1"/>
              <a:t>jobtracker</a:t>
            </a:r>
            <a:r>
              <a:rPr lang="en-US" sz="1800" dirty="0"/>
              <a:t> takes care of </a:t>
            </a:r>
            <a:r>
              <a:rPr lang="en-US" sz="1800" dirty="0" smtClean="0"/>
              <a:t>both job </a:t>
            </a:r>
            <a:r>
              <a:rPr lang="en-US" sz="1800" dirty="0"/>
              <a:t>scheduling (matching tasks with </a:t>
            </a:r>
            <a:r>
              <a:rPr lang="en-US" sz="1800" dirty="0" err="1"/>
              <a:t>tasktrackers</a:t>
            </a:r>
            <a:r>
              <a:rPr lang="en-US" sz="1800" dirty="0"/>
              <a:t>) and task progress monitoring (</a:t>
            </a:r>
            <a:r>
              <a:rPr lang="en-US" sz="1800" dirty="0" smtClean="0"/>
              <a:t>keeping track </a:t>
            </a:r>
            <a:r>
              <a:rPr lang="en-US" sz="1800" dirty="0"/>
              <a:t>of tasks and restarting failed or slow tasks, and doing task bookkeeping </a:t>
            </a:r>
            <a:r>
              <a:rPr lang="en-US" sz="1800" dirty="0" smtClean="0"/>
              <a:t>such as </a:t>
            </a:r>
            <a:r>
              <a:rPr lang="en-US" sz="1800" dirty="0"/>
              <a:t>maintaining counter totals).</a:t>
            </a:r>
            <a:endParaRPr lang="en-US" sz="1800" dirty="0" smtClean="0"/>
          </a:p>
          <a:p>
            <a:r>
              <a:rPr lang="en-US" sz="1800" dirty="0"/>
              <a:t>YARN separates these two roles into two independent daemons: a </a:t>
            </a:r>
            <a:r>
              <a:rPr lang="en-US" sz="1800" i="1" dirty="0"/>
              <a:t>resource </a:t>
            </a:r>
            <a:r>
              <a:rPr lang="en-US" sz="1800" i="1" dirty="0" smtClean="0"/>
              <a:t>manager </a:t>
            </a:r>
            <a:r>
              <a:rPr lang="en-US" sz="1800" dirty="0" smtClean="0"/>
              <a:t>to </a:t>
            </a:r>
            <a:r>
              <a:rPr lang="en-US" sz="1800" dirty="0"/>
              <a:t>manage the use of resources across the cluster, and an </a:t>
            </a:r>
            <a:r>
              <a:rPr lang="en-US" sz="1800" i="1" dirty="0"/>
              <a:t>application master </a:t>
            </a:r>
            <a:r>
              <a:rPr lang="en-US" sz="1800" dirty="0"/>
              <a:t>to </a:t>
            </a:r>
            <a:r>
              <a:rPr lang="en-US" sz="1800" dirty="0" smtClean="0"/>
              <a:t>manage the </a:t>
            </a:r>
            <a:r>
              <a:rPr lang="en-US" sz="1800" dirty="0"/>
              <a:t>lifecycle of applications running on the cluster. </a:t>
            </a:r>
            <a:endParaRPr lang="en-US" sz="1800" dirty="0" smtClean="0"/>
          </a:p>
          <a:p>
            <a:r>
              <a:rPr lang="en-US" sz="1800" dirty="0" smtClean="0"/>
              <a:t>The </a:t>
            </a:r>
            <a:r>
              <a:rPr lang="en-US" sz="1800" dirty="0"/>
              <a:t>idea is that an </a:t>
            </a:r>
            <a:r>
              <a:rPr lang="en-US" sz="1800" dirty="0" smtClean="0"/>
              <a:t>application master </a:t>
            </a:r>
            <a:r>
              <a:rPr lang="en-US" sz="1800" dirty="0"/>
              <a:t>negotiates with the resource manager for cluster resources—described in </a:t>
            </a:r>
            <a:r>
              <a:rPr lang="en-US" sz="1800" dirty="0" smtClean="0"/>
              <a:t>terms of </a:t>
            </a:r>
            <a:r>
              <a:rPr lang="en-US" sz="1800" dirty="0"/>
              <a:t>a number of </a:t>
            </a:r>
            <a:r>
              <a:rPr lang="en-US" sz="1800" i="1" dirty="0"/>
              <a:t>containers </a:t>
            </a:r>
            <a:r>
              <a:rPr lang="en-US" sz="1800" dirty="0"/>
              <a:t>each with a certain memory limit—then runs </a:t>
            </a:r>
            <a:r>
              <a:rPr lang="en-US" sz="1800" dirty="0" err="1" smtClean="0"/>
              <a:t>applicationspecific</a:t>
            </a:r>
            <a:r>
              <a:rPr lang="en-US" sz="1800" dirty="0" smtClean="0"/>
              <a:t> processes </a:t>
            </a:r>
            <a:r>
              <a:rPr lang="en-US" sz="1800" dirty="0"/>
              <a:t>in those containers. The containers are overseen by </a:t>
            </a:r>
            <a:r>
              <a:rPr lang="en-US" sz="1800" i="1" dirty="0"/>
              <a:t>node </a:t>
            </a:r>
            <a:r>
              <a:rPr lang="en-US" sz="1800" i="1" dirty="0" smtClean="0"/>
              <a:t>managers </a:t>
            </a:r>
            <a:r>
              <a:rPr lang="en-US" sz="1800" dirty="0" smtClean="0"/>
              <a:t>running </a:t>
            </a:r>
            <a:r>
              <a:rPr lang="en-US" sz="1800" dirty="0"/>
              <a:t>on cluster nodes, which ensure that the application does not use more </a:t>
            </a:r>
            <a:r>
              <a:rPr lang="en-US" sz="1800" dirty="0" smtClean="0"/>
              <a:t>resources than </a:t>
            </a:r>
            <a:r>
              <a:rPr lang="en-US" sz="1800" dirty="0"/>
              <a:t>it has been </a:t>
            </a:r>
            <a:r>
              <a:rPr lang="en-US" sz="1800" dirty="0" smtClean="0"/>
              <a:t>allocated</a:t>
            </a:r>
            <a:endParaRPr lang="en-US" sz="1800" dirty="0"/>
          </a:p>
        </p:txBody>
      </p:sp>
    </p:spTree>
    <p:extLst>
      <p:ext uri="{BB962C8B-B14F-4D97-AF65-F5344CB8AC3E}">
        <p14:creationId xmlns:p14="http://schemas.microsoft.com/office/powerpoint/2010/main" val="4236969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619125"/>
            <a:ext cx="5810250" cy="561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143000" y="4191000"/>
            <a:ext cx="2971800" cy="923330"/>
          </a:xfrm>
          <a:prstGeom prst="rect">
            <a:avLst/>
          </a:prstGeom>
        </p:spPr>
        <p:txBody>
          <a:bodyPr wrap="square">
            <a:spAutoFit/>
          </a:bodyPr>
          <a:lstStyle/>
          <a:p>
            <a:r>
              <a:rPr lang="en-US" i="1" dirty="0"/>
              <a:t>How status updates are propagated through the </a:t>
            </a:r>
            <a:r>
              <a:rPr lang="en-US" i="1" dirty="0" smtClean="0"/>
              <a:t>Classic </a:t>
            </a:r>
            <a:r>
              <a:rPr lang="en-US" i="1" dirty="0"/>
              <a:t>system</a:t>
            </a:r>
            <a:endParaRPr lang="en-US" dirty="0"/>
          </a:p>
        </p:txBody>
      </p:sp>
    </p:spTree>
    <p:extLst>
      <p:ext uri="{BB962C8B-B14F-4D97-AF65-F5344CB8AC3E}">
        <p14:creationId xmlns:p14="http://schemas.microsoft.com/office/powerpoint/2010/main" val="24855566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err="1"/>
              <a:t>MapReduce</a:t>
            </a:r>
            <a:r>
              <a:rPr lang="en-US" sz="2800" dirty="0"/>
              <a:t> on YARN involves more entities than classic </a:t>
            </a:r>
            <a:r>
              <a:rPr lang="en-US" sz="2800" dirty="0" err="1"/>
              <a:t>MapReduce</a:t>
            </a:r>
            <a:r>
              <a:rPr lang="en-US" sz="2800" dirty="0"/>
              <a:t>. They are:</a:t>
            </a:r>
          </a:p>
        </p:txBody>
      </p:sp>
      <p:sp>
        <p:nvSpPr>
          <p:cNvPr id="3" name="Content Placeholder 2"/>
          <p:cNvSpPr>
            <a:spLocks noGrp="1"/>
          </p:cNvSpPr>
          <p:nvPr>
            <p:ph idx="1"/>
          </p:nvPr>
        </p:nvSpPr>
        <p:spPr/>
        <p:txBody>
          <a:bodyPr>
            <a:normAutofit fontScale="85000" lnSpcReduction="20000"/>
          </a:bodyPr>
          <a:lstStyle/>
          <a:p>
            <a:r>
              <a:rPr lang="en-US" dirty="0"/>
              <a:t>The client, which submits the </a:t>
            </a:r>
            <a:r>
              <a:rPr lang="en-US" dirty="0" err="1"/>
              <a:t>MapReduce</a:t>
            </a:r>
            <a:r>
              <a:rPr lang="en-US" dirty="0"/>
              <a:t> job.</a:t>
            </a:r>
          </a:p>
          <a:p>
            <a:r>
              <a:rPr lang="en-US" dirty="0" smtClean="0"/>
              <a:t>The </a:t>
            </a:r>
            <a:r>
              <a:rPr lang="en-US" dirty="0"/>
              <a:t>YARN resource manager, which coordinates the allocation of compute </a:t>
            </a:r>
            <a:r>
              <a:rPr lang="en-US" dirty="0" smtClean="0"/>
              <a:t>resources on </a:t>
            </a:r>
            <a:r>
              <a:rPr lang="en-US" dirty="0"/>
              <a:t>the cluster.</a:t>
            </a:r>
          </a:p>
          <a:p>
            <a:r>
              <a:rPr lang="en-US" dirty="0" smtClean="0"/>
              <a:t>The </a:t>
            </a:r>
            <a:r>
              <a:rPr lang="en-US" dirty="0"/>
              <a:t>YARN node managers, which launch and monitor the compute containers </a:t>
            </a:r>
            <a:r>
              <a:rPr lang="en-US" dirty="0" smtClean="0"/>
              <a:t>on machines </a:t>
            </a:r>
            <a:r>
              <a:rPr lang="en-US" dirty="0"/>
              <a:t>in the cluster.</a:t>
            </a:r>
          </a:p>
          <a:p>
            <a:r>
              <a:rPr lang="en-US" dirty="0" smtClean="0"/>
              <a:t>The </a:t>
            </a:r>
            <a:r>
              <a:rPr lang="en-US" dirty="0" err="1"/>
              <a:t>MapReduce</a:t>
            </a:r>
            <a:r>
              <a:rPr lang="en-US" dirty="0"/>
              <a:t> application master, which coordinates the tasks running </a:t>
            </a:r>
            <a:r>
              <a:rPr lang="en-US" dirty="0" smtClean="0"/>
              <a:t>the </a:t>
            </a:r>
            <a:r>
              <a:rPr lang="en-US" dirty="0" err="1" smtClean="0"/>
              <a:t>MapReduce</a:t>
            </a:r>
            <a:r>
              <a:rPr lang="en-US" dirty="0" smtClean="0"/>
              <a:t> </a:t>
            </a:r>
            <a:r>
              <a:rPr lang="en-US" dirty="0"/>
              <a:t>job. The application master and the </a:t>
            </a:r>
            <a:r>
              <a:rPr lang="en-US" dirty="0" err="1"/>
              <a:t>MapReduce</a:t>
            </a:r>
            <a:r>
              <a:rPr lang="en-US" dirty="0"/>
              <a:t> tasks run in </a:t>
            </a:r>
            <a:r>
              <a:rPr lang="en-US" dirty="0" smtClean="0"/>
              <a:t>containers that </a:t>
            </a:r>
            <a:r>
              <a:rPr lang="en-US" dirty="0"/>
              <a:t>are scheduled by the resource manager, and managed by the </a:t>
            </a:r>
            <a:r>
              <a:rPr lang="en-US" dirty="0" smtClean="0"/>
              <a:t>node managers</a:t>
            </a:r>
            <a:r>
              <a:rPr lang="en-US" dirty="0"/>
              <a:t>.</a:t>
            </a:r>
          </a:p>
          <a:p>
            <a:r>
              <a:rPr lang="en-US" dirty="0" smtClean="0"/>
              <a:t>The </a:t>
            </a:r>
            <a:r>
              <a:rPr lang="en-US" dirty="0"/>
              <a:t>distributed </a:t>
            </a:r>
            <a:r>
              <a:rPr lang="en-US" dirty="0" err="1"/>
              <a:t>filesystem</a:t>
            </a:r>
            <a:r>
              <a:rPr lang="en-US" dirty="0"/>
              <a:t> (normally </a:t>
            </a:r>
            <a:r>
              <a:rPr lang="en-US" dirty="0" smtClean="0"/>
              <a:t>HDFS), </a:t>
            </a:r>
            <a:r>
              <a:rPr lang="en-US" dirty="0"/>
              <a:t>which is </a:t>
            </a:r>
            <a:r>
              <a:rPr lang="en-US" dirty="0" smtClean="0"/>
              <a:t>used for </a:t>
            </a:r>
            <a:r>
              <a:rPr lang="en-US" dirty="0"/>
              <a:t>sharing job files between the other entities.</a:t>
            </a:r>
          </a:p>
        </p:txBody>
      </p:sp>
    </p:spTree>
    <p:extLst>
      <p:ext uri="{BB962C8B-B14F-4D97-AF65-F5344CB8AC3E}">
        <p14:creationId xmlns:p14="http://schemas.microsoft.com/office/powerpoint/2010/main" val="20617946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713" y="1885950"/>
            <a:ext cx="6886575" cy="308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352800" y="990600"/>
            <a:ext cx="3042692" cy="369332"/>
          </a:xfrm>
          <a:prstGeom prst="rect">
            <a:avLst/>
          </a:prstGeom>
        </p:spPr>
        <p:txBody>
          <a:bodyPr wrap="none">
            <a:spAutoFit/>
          </a:bodyPr>
          <a:lstStyle/>
          <a:p>
            <a:r>
              <a:rPr lang="en-US" i="1" dirty="0"/>
              <a:t>Shuffle and sort in </a:t>
            </a:r>
            <a:r>
              <a:rPr lang="en-US" i="1" dirty="0" err="1"/>
              <a:t>MapReduce</a:t>
            </a:r>
            <a:endParaRPr lang="en-US" dirty="0"/>
          </a:p>
        </p:txBody>
      </p:sp>
    </p:spTree>
    <p:extLst>
      <p:ext uri="{BB962C8B-B14F-4D97-AF65-F5344CB8AC3E}">
        <p14:creationId xmlns:p14="http://schemas.microsoft.com/office/powerpoint/2010/main" val="17067109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map and reduce functions</a:t>
            </a:r>
          </a:p>
        </p:txBody>
      </p:sp>
      <p:sp>
        <p:nvSpPr>
          <p:cNvPr id="3" name="Content Placeholder 2"/>
          <p:cNvSpPr>
            <a:spLocks noGrp="1"/>
          </p:cNvSpPr>
          <p:nvPr>
            <p:ph idx="1"/>
          </p:nvPr>
        </p:nvSpPr>
        <p:spPr/>
        <p:txBody>
          <a:bodyPr/>
          <a:lstStyle/>
          <a:p>
            <a:r>
              <a:rPr lang="en-US" dirty="0"/>
              <a:t>map: (K1, V1) → list(K2, V2)</a:t>
            </a:r>
          </a:p>
          <a:p>
            <a:r>
              <a:rPr lang="en-US" dirty="0"/>
              <a:t>reduce: (K2, list(V2)) → list(K3, V3)</a:t>
            </a:r>
          </a:p>
          <a:p>
            <a:r>
              <a:rPr lang="en-US" dirty="0"/>
              <a:t>In general, the map input key and value types (K1 and V1) are different from the </a:t>
            </a:r>
            <a:r>
              <a:rPr lang="en-US" dirty="0" smtClean="0"/>
              <a:t>map output </a:t>
            </a:r>
            <a:r>
              <a:rPr lang="en-US" dirty="0"/>
              <a:t>types (K2 and V2). However, the reduce input must have the same types as </a:t>
            </a:r>
            <a:r>
              <a:rPr lang="en-US" dirty="0" smtClean="0"/>
              <a:t>the map </a:t>
            </a:r>
            <a:r>
              <a:rPr lang="en-US" dirty="0"/>
              <a:t>output, although the reduce output types may be different again (K3 and V3).</a:t>
            </a:r>
          </a:p>
        </p:txBody>
      </p:sp>
    </p:spTree>
    <p:extLst>
      <p:ext uri="{BB962C8B-B14F-4D97-AF65-F5344CB8AC3E}">
        <p14:creationId xmlns:p14="http://schemas.microsoft.com/office/powerpoint/2010/main" val="11912704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a:t>
            </a:r>
            <a:r>
              <a:rPr lang="en-US" dirty="0" err="1"/>
              <a:t>MapReduce</a:t>
            </a:r>
            <a:r>
              <a:rPr lang="en-US" dirty="0"/>
              <a:t> program consists of the following 3 parts :</a:t>
            </a:r>
          </a:p>
          <a:p>
            <a:r>
              <a:rPr lang="en-US" dirty="0"/>
              <a:t>Driver</a:t>
            </a:r>
          </a:p>
          <a:p>
            <a:r>
              <a:rPr lang="en-US" dirty="0"/>
              <a:t>Mapper</a:t>
            </a:r>
          </a:p>
          <a:p>
            <a:r>
              <a:rPr lang="en-US" dirty="0"/>
              <a:t>Reducer</a:t>
            </a:r>
          </a:p>
          <a:p>
            <a:endParaRPr lang="en-US" dirty="0"/>
          </a:p>
        </p:txBody>
      </p:sp>
    </p:spTree>
    <p:extLst>
      <p:ext uri="{BB962C8B-B14F-4D97-AF65-F5344CB8AC3E}">
        <p14:creationId xmlns:p14="http://schemas.microsoft.com/office/powerpoint/2010/main" val="10728656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r>
              <a:rPr lang="en-US" b="1" cap="all" dirty="0"/>
              <a:t>MAPPING LISTS</a:t>
            </a:r>
          </a:p>
          <a:p>
            <a:r>
              <a:rPr lang="en-US" dirty="0"/>
              <a:t>The first phase of a </a:t>
            </a:r>
            <a:r>
              <a:rPr lang="en-US" dirty="0" err="1"/>
              <a:t>MapReduce</a:t>
            </a:r>
            <a:r>
              <a:rPr lang="en-US" dirty="0"/>
              <a:t> program is called </a:t>
            </a:r>
            <a:r>
              <a:rPr lang="en-US" i="1" dirty="0"/>
              <a:t>mapping</a:t>
            </a:r>
            <a:r>
              <a:rPr lang="en-US" dirty="0"/>
              <a:t>. A list of data elements are provided, one at a time, to a function called the </a:t>
            </a:r>
            <a:r>
              <a:rPr lang="en-US" i="1" dirty="0"/>
              <a:t>Mapper</a:t>
            </a:r>
            <a:r>
              <a:rPr lang="en-US" dirty="0"/>
              <a:t>, which transforms each element individually to an output data element.</a:t>
            </a:r>
          </a:p>
          <a:p>
            <a:r>
              <a:rPr lang="en-US" b="1" cap="all" dirty="0"/>
              <a:t>REDUCING LISTS</a:t>
            </a:r>
          </a:p>
          <a:p>
            <a:r>
              <a:rPr lang="en-US" dirty="0"/>
              <a:t>Reducing lets you aggregate values together. A </a:t>
            </a:r>
            <a:r>
              <a:rPr lang="en-US" i="1" dirty="0"/>
              <a:t>reducer</a:t>
            </a:r>
            <a:r>
              <a:rPr lang="en-US" dirty="0"/>
              <a:t> function receives an iterator of input values from an input list. It then combines these values together, returning a single output value.</a:t>
            </a:r>
          </a:p>
          <a:p>
            <a:endParaRPr lang="en-US" dirty="0"/>
          </a:p>
        </p:txBody>
      </p:sp>
    </p:spTree>
    <p:extLst>
      <p:ext uri="{BB962C8B-B14F-4D97-AF65-F5344CB8AC3E}">
        <p14:creationId xmlns:p14="http://schemas.microsoft.com/office/powerpoint/2010/main" val="27952879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MapReduce</a:t>
            </a:r>
            <a:r>
              <a:rPr lang="en-US" dirty="0"/>
              <a:t> Data Flow</a:t>
            </a:r>
            <a:br>
              <a:rPr lang="en-US" dirty="0"/>
            </a:br>
            <a:endParaRPr lang="en-US" dirty="0"/>
          </a:p>
        </p:txBody>
      </p:sp>
      <p:pic>
        <p:nvPicPr>
          <p:cNvPr id="7170" name="Picture 2" descr="mapreduce-pro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47824"/>
            <a:ext cx="7229475" cy="4676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5067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apreduce-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457199"/>
            <a:ext cx="6867525" cy="5943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9136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RecordReader</a:t>
            </a:r>
            <a:endParaRPr lang="en-US" dirty="0"/>
          </a:p>
        </p:txBody>
      </p:sp>
      <p:sp>
        <p:nvSpPr>
          <p:cNvPr id="3" name="Content Placeholder 2"/>
          <p:cNvSpPr>
            <a:spLocks noGrp="1"/>
          </p:cNvSpPr>
          <p:nvPr>
            <p:ph idx="1"/>
          </p:nvPr>
        </p:nvSpPr>
        <p:spPr/>
        <p:txBody>
          <a:bodyPr>
            <a:normAutofit fontScale="77500" lnSpcReduction="20000"/>
          </a:bodyPr>
          <a:lstStyle/>
          <a:p>
            <a:r>
              <a:rPr lang="en-US" dirty="0"/>
              <a:t>The </a:t>
            </a:r>
            <a:r>
              <a:rPr lang="en-US" dirty="0" err="1"/>
              <a:t>InputSplit</a:t>
            </a:r>
            <a:r>
              <a:rPr lang="en-US" dirty="0"/>
              <a:t> has defined a slice of work, but does not describe how to access it. </a:t>
            </a:r>
            <a:r>
              <a:rPr lang="en-US" dirty="0" err="1"/>
              <a:t>The</a:t>
            </a:r>
            <a:r>
              <a:rPr lang="en-US" i="1" dirty="0" err="1"/>
              <a:t>RecordReader</a:t>
            </a:r>
            <a:r>
              <a:rPr lang="en-US" dirty="0"/>
              <a:t> class actually loads the data from its source and converts it into (key, value) pairs suitable for reading by the Mapper. The </a:t>
            </a:r>
            <a:r>
              <a:rPr lang="en-US" dirty="0" err="1"/>
              <a:t>RecordReader</a:t>
            </a:r>
            <a:r>
              <a:rPr lang="en-US" dirty="0"/>
              <a:t> instance is defined by the </a:t>
            </a:r>
            <a:r>
              <a:rPr lang="en-US" dirty="0" err="1"/>
              <a:t>InputFormat</a:t>
            </a:r>
            <a:r>
              <a:rPr lang="en-US" dirty="0"/>
              <a:t>. The default </a:t>
            </a:r>
            <a:r>
              <a:rPr lang="en-US" dirty="0" err="1"/>
              <a:t>InputFormat,</a:t>
            </a:r>
            <a:r>
              <a:rPr lang="en-US" i="1" dirty="0" err="1"/>
              <a:t>TextInputFormat</a:t>
            </a:r>
            <a:r>
              <a:rPr lang="en-US" dirty="0"/>
              <a:t>, provides a </a:t>
            </a:r>
            <a:r>
              <a:rPr lang="en-US" i="1" dirty="0" err="1"/>
              <a:t>LineRecordReader</a:t>
            </a:r>
            <a:r>
              <a:rPr lang="en-US" dirty="0"/>
              <a:t>, which treats each line of the input file as a new value. The key associated with each line is its byte offset in the file. The </a:t>
            </a:r>
            <a:r>
              <a:rPr lang="en-US" dirty="0" err="1"/>
              <a:t>RecordReader</a:t>
            </a:r>
            <a:r>
              <a:rPr lang="en-US" dirty="0"/>
              <a:t> is invoke repeatedly on the input until the entire </a:t>
            </a:r>
            <a:r>
              <a:rPr lang="en-US" dirty="0" err="1"/>
              <a:t>InputSplit</a:t>
            </a:r>
            <a:r>
              <a:rPr lang="en-US" dirty="0"/>
              <a:t> has been consumed. Each invocation of the </a:t>
            </a:r>
            <a:r>
              <a:rPr lang="en-US" dirty="0" err="1"/>
              <a:t>RecordReader</a:t>
            </a:r>
            <a:r>
              <a:rPr lang="en-US" dirty="0"/>
              <a:t> leads to another call to </a:t>
            </a:r>
            <a:r>
              <a:rPr lang="en-US" dirty="0" err="1"/>
              <a:t>the</a:t>
            </a:r>
            <a:r>
              <a:rPr lang="en-US" dirty="0" err="1" smtClean="0"/>
              <a:t>map</a:t>
            </a:r>
            <a:r>
              <a:rPr lang="en-US" dirty="0" smtClean="0"/>
              <a:t>()</a:t>
            </a:r>
            <a:r>
              <a:rPr lang="en-US" dirty="0"/>
              <a:t> method of the Mapper.</a:t>
            </a:r>
          </a:p>
        </p:txBody>
      </p:sp>
    </p:spTree>
    <p:extLst>
      <p:ext uri="{BB962C8B-B14F-4D97-AF65-F5344CB8AC3E}">
        <p14:creationId xmlns:p14="http://schemas.microsoft.com/office/powerpoint/2010/main" val="4626858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t>Driver</a:t>
            </a:r>
            <a:endParaRPr lang="en-US"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r>
              <a:rPr lang="en-US" dirty="0"/>
              <a:t>The Driver code runs on the client machine and is responsible for building the configuration of the job and submitting it to the Hadoop Cluster. The Driver code will contain the main() method that accepts arguments from the command line.</a:t>
            </a:r>
          </a:p>
          <a:p>
            <a:r>
              <a:rPr lang="en-US" dirty="0"/>
              <a:t>Some of the common libraries that are included for the Driver class </a:t>
            </a:r>
            <a:r>
              <a:rPr lang="en-US" dirty="0" smtClean="0"/>
              <a:t>:</a:t>
            </a:r>
          </a:p>
          <a:p>
            <a:endParaRPr lang="en-US" dirty="0"/>
          </a:p>
          <a:p>
            <a:r>
              <a:rPr lang="en-US" dirty="0" smtClean="0"/>
              <a:t>import </a:t>
            </a:r>
            <a:r>
              <a:rPr lang="en-US" dirty="0" err="1" smtClean="0"/>
              <a:t>org.apache.hadoop.fs.Path</a:t>
            </a:r>
            <a:r>
              <a:rPr lang="en-US" dirty="0" smtClean="0"/>
              <a:t>;</a:t>
            </a:r>
          </a:p>
          <a:p>
            <a:r>
              <a:rPr lang="en-US" dirty="0" smtClean="0"/>
              <a:t>import org.apache.hadoop.io.*;</a:t>
            </a:r>
          </a:p>
          <a:p>
            <a:r>
              <a:rPr lang="en-US" dirty="0" smtClean="0"/>
              <a:t>import </a:t>
            </a:r>
            <a:r>
              <a:rPr lang="en-US" dirty="0" err="1" smtClean="0"/>
              <a:t>org.apache.hadoop.mapred</a:t>
            </a:r>
            <a:r>
              <a:rPr lang="en-US" dirty="0" smtClean="0"/>
              <a:t>.*;</a:t>
            </a:r>
          </a:p>
          <a:p>
            <a:r>
              <a:rPr lang="en-US" dirty="0" smtClean="0"/>
              <a:t>The next step the Driver program should do is to configure the Job that needs to be submitted to the cluster. To do this we create an object of type </a:t>
            </a:r>
            <a:r>
              <a:rPr lang="en-US" b="1" dirty="0" err="1" smtClean="0"/>
              <a:t>JobConf</a:t>
            </a:r>
            <a:r>
              <a:rPr lang="en-US" b="1" dirty="0" smtClean="0"/>
              <a:t> </a:t>
            </a:r>
            <a:r>
              <a:rPr lang="en-US" dirty="0" smtClean="0"/>
              <a:t>and pass the name of the Driver class. The </a:t>
            </a:r>
            <a:r>
              <a:rPr lang="en-US" dirty="0" err="1" smtClean="0"/>
              <a:t>JobConf</a:t>
            </a:r>
            <a:r>
              <a:rPr lang="en-US" dirty="0" smtClean="0"/>
              <a:t> class allows you to configure the different properties for the Mapper, Combiner, </a:t>
            </a:r>
            <a:r>
              <a:rPr lang="en-US" dirty="0" err="1" smtClean="0"/>
              <a:t>Partitioner</a:t>
            </a:r>
            <a:r>
              <a:rPr lang="en-US" dirty="0" smtClean="0"/>
              <a:t>, Reducer, </a:t>
            </a:r>
            <a:r>
              <a:rPr lang="en-US" dirty="0" err="1" smtClean="0"/>
              <a:t>InputFormat</a:t>
            </a:r>
            <a:r>
              <a:rPr lang="en-US" dirty="0" smtClean="0"/>
              <a:t> and </a:t>
            </a:r>
            <a:r>
              <a:rPr lang="en-US" dirty="0" err="1" smtClean="0"/>
              <a:t>OutputFormat</a:t>
            </a:r>
            <a:r>
              <a:rPr lang="en-US" dirty="0" smtClean="0"/>
              <a:t>.</a:t>
            </a:r>
          </a:p>
          <a:p>
            <a:endParaRPr lang="en-US" dirty="0"/>
          </a:p>
          <a:p>
            <a:endParaRPr lang="en-US" dirty="0"/>
          </a:p>
        </p:txBody>
      </p:sp>
    </p:spTree>
    <p:extLst>
      <p:ext uri="{BB962C8B-B14F-4D97-AF65-F5344CB8AC3E}">
        <p14:creationId xmlns:p14="http://schemas.microsoft.com/office/powerpoint/2010/main" val="32085719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6126163"/>
          </a:xfrm>
        </p:spPr>
        <p:txBody>
          <a:bodyPr>
            <a:normAutofit fontScale="25000" lnSpcReduction="20000"/>
          </a:bodyPr>
          <a:lstStyle/>
          <a:p>
            <a:pPr marL="0" indent="0" fontAlgn="base">
              <a:buNone/>
            </a:pPr>
            <a:r>
              <a:rPr lang="en-US" sz="4800" dirty="0" smtClean="0"/>
              <a:t>public </a:t>
            </a:r>
            <a:r>
              <a:rPr lang="en-US" sz="4800" dirty="0"/>
              <a:t>class </a:t>
            </a:r>
            <a:r>
              <a:rPr lang="en-US" sz="4800" dirty="0" err="1"/>
              <a:t>MyDriver</a:t>
            </a:r>
            <a:r>
              <a:rPr lang="en-US" sz="4800" dirty="0"/>
              <a:t>{</a:t>
            </a:r>
          </a:p>
          <a:p>
            <a:pPr marL="0" indent="0" fontAlgn="base">
              <a:buNone/>
            </a:pPr>
            <a:r>
              <a:rPr lang="en-US" sz="4800" dirty="0"/>
              <a:t>public static void main(String[] </a:t>
            </a:r>
            <a:r>
              <a:rPr lang="en-US" sz="4800" dirty="0" err="1"/>
              <a:t>args</a:t>
            </a:r>
            <a:r>
              <a:rPr lang="en-US" sz="4800" dirty="0"/>
              <a:t>) throws Exception {</a:t>
            </a:r>
          </a:p>
          <a:p>
            <a:pPr marL="0" indent="0" fontAlgn="base">
              <a:buNone/>
            </a:pPr>
            <a:r>
              <a:rPr lang="en-US" sz="4800" dirty="0"/>
              <a:t>// Create the </a:t>
            </a:r>
            <a:r>
              <a:rPr lang="en-US" sz="4800" dirty="0" err="1"/>
              <a:t>JobConf</a:t>
            </a:r>
            <a:r>
              <a:rPr lang="en-US" sz="4800" dirty="0"/>
              <a:t> object</a:t>
            </a:r>
          </a:p>
          <a:p>
            <a:pPr marL="0" indent="0" fontAlgn="base">
              <a:buNone/>
            </a:pPr>
            <a:r>
              <a:rPr lang="en-US" sz="4800" dirty="0" err="1"/>
              <a:t>JobConf</a:t>
            </a:r>
            <a:r>
              <a:rPr lang="en-US" sz="4800" dirty="0"/>
              <a:t> </a:t>
            </a:r>
            <a:r>
              <a:rPr lang="en-US" sz="4800" dirty="0" err="1"/>
              <a:t>conf</a:t>
            </a:r>
            <a:r>
              <a:rPr lang="en-US" sz="4800" dirty="0"/>
              <a:t> = new </a:t>
            </a:r>
            <a:r>
              <a:rPr lang="en-US" sz="4800" dirty="0" err="1"/>
              <a:t>JobConf</a:t>
            </a:r>
            <a:r>
              <a:rPr lang="en-US" sz="4800" dirty="0"/>
              <a:t>(</a:t>
            </a:r>
            <a:r>
              <a:rPr lang="en-US" sz="4800" dirty="0" err="1"/>
              <a:t>MyDriver.class</a:t>
            </a:r>
            <a:r>
              <a:rPr lang="en-US" sz="4800" dirty="0"/>
              <a:t>);</a:t>
            </a:r>
          </a:p>
          <a:p>
            <a:pPr marL="0" indent="0" fontAlgn="base">
              <a:buNone/>
            </a:pPr>
            <a:r>
              <a:rPr lang="en-US" sz="4800" dirty="0"/>
              <a:t> </a:t>
            </a:r>
          </a:p>
          <a:p>
            <a:pPr marL="0" indent="0" fontAlgn="base">
              <a:buNone/>
            </a:pPr>
            <a:r>
              <a:rPr lang="en-US" sz="4800" dirty="0"/>
              <a:t>// Set the name of the Job</a:t>
            </a:r>
          </a:p>
          <a:p>
            <a:pPr marL="0" indent="0" fontAlgn="base">
              <a:buNone/>
            </a:pPr>
            <a:r>
              <a:rPr lang="en-US" sz="4800" dirty="0" err="1"/>
              <a:t>conf.setJobName</a:t>
            </a:r>
            <a:r>
              <a:rPr lang="en-US" sz="4800" dirty="0"/>
              <a:t>(“</a:t>
            </a:r>
            <a:r>
              <a:rPr lang="en-US" sz="4800" dirty="0" err="1"/>
              <a:t>SampleJobName</a:t>
            </a:r>
            <a:r>
              <a:rPr lang="en-US" sz="4800" dirty="0"/>
              <a:t>”);</a:t>
            </a:r>
          </a:p>
          <a:p>
            <a:pPr marL="0" indent="0" fontAlgn="base">
              <a:buNone/>
            </a:pPr>
            <a:r>
              <a:rPr lang="en-US" sz="4800" dirty="0"/>
              <a:t> </a:t>
            </a:r>
          </a:p>
          <a:p>
            <a:pPr marL="0" indent="0" fontAlgn="base">
              <a:buNone/>
            </a:pPr>
            <a:r>
              <a:rPr lang="en-US" sz="4800" dirty="0"/>
              <a:t>// Set the output Key type for the Mapper</a:t>
            </a:r>
          </a:p>
          <a:p>
            <a:pPr marL="0" indent="0" fontAlgn="base">
              <a:buNone/>
            </a:pPr>
            <a:r>
              <a:rPr lang="en-US" sz="4800" dirty="0" err="1"/>
              <a:t>conf.setMapOutputKeyClass</a:t>
            </a:r>
            <a:r>
              <a:rPr lang="en-US" sz="4800" dirty="0"/>
              <a:t>(</a:t>
            </a:r>
            <a:r>
              <a:rPr lang="en-US" sz="4800" dirty="0" err="1"/>
              <a:t>Text.class</a:t>
            </a:r>
            <a:r>
              <a:rPr lang="en-US" sz="4800" dirty="0"/>
              <a:t>);</a:t>
            </a:r>
          </a:p>
          <a:p>
            <a:pPr marL="0" indent="0" fontAlgn="base">
              <a:buNone/>
            </a:pPr>
            <a:r>
              <a:rPr lang="en-US" sz="4800" dirty="0"/>
              <a:t> </a:t>
            </a:r>
          </a:p>
          <a:p>
            <a:pPr marL="0" indent="0" fontAlgn="base">
              <a:buNone/>
            </a:pPr>
            <a:r>
              <a:rPr lang="en-US" sz="4800" dirty="0"/>
              <a:t>// Set the output Value type for the Mapper</a:t>
            </a:r>
          </a:p>
          <a:p>
            <a:pPr marL="0" indent="0" fontAlgn="base">
              <a:buNone/>
            </a:pPr>
            <a:r>
              <a:rPr lang="en-US" sz="4800" dirty="0" err="1"/>
              <a:t>conf.setMapOutputValueClass</a:t>
            </a:r>
            <a:r>
              <a:rPr lang="en-US" sz="4800" dirty="0"/>
              <a:t>(</a:t>
            </a:r>
            <a:r>
              <a:rPr lang="en-US" sz="4800" dirty="0" err="1"/>
              <a:t>IntWritable.class</a:t>
            </a:r>
            <a:r>
              <a:rPr lang="en-US" sz="4800" dirty="0"/>
              <a:t>);</a:t>
            </a:r>
          </a:p>
          <a:p>
            <a:pPr marL="0" indent="0" fontAlgn="base">
              <a:buNone/>
            </a:pPr>
            <a:r>
              <a:rPr lang="en-US" sz="4800" dirty="0"/>
              <a:t> </a:t>
            </a:r>
          </a:p>
          <a:p>
            <a:pPr marL="0" indent="0" fontAlgn="base">
              <a:buNone/>
            </a:pPr>
            <a:r>
              <a:rPr lang="en-US" sz="4800" dirty="0"/>
              <a:t>// Set the output Key type for the Reducer</a:t>
            </a:r>
          </a:p>
          <a:p>
            <a:pPr marL="0" indent="0" fontAlgn="base">
              <a:buNone/>
            </a:pPr>
            <a:r>
              <a:rPr lang="en-US" sz="4800" dirty="0" err="1"/>
              <a:t>conf.setOutputKeyClass</a:t>
            </a:r>
            <a:r>
              <a:rPr lang="en-US" sz="4800" dirty="0"/>
              <a:t>(</a:t>
            </a:r>
            <a:r>
              <a:rPr lang="en-US" sz="4800" dirty="0" err="1"/>
              <a:t>Text.class</a:t>
            </a:r>
            <a:r>
              <a:rPr lang="en-US" sz="4800" dirty="0"/>
              <a:t>);</a:t>
            </a:r>
          </a:p>
          <a:p>
            <a:pPr marL="0" indent="0" fontAlgn="base">
              <a:buNone/>
            </a:pPr>
            <a:r>
              <a:rPr lang="en-US" sz="4800" dirty="0"/>
              <a:t> </a:t>
            </a:r>
          </a:p>
          <a:p>
            <a:pPr marL="0" indent="0" fontAlgn="base">
              <a:buNone/>
            </a:pPr>
            <a:r>
              <a:rPr lang="en-US" sz="4800" dirty="0"/>
              <a:t>// Set the output Value type for the Reducer</a:t>
            </a:r>
          </a:p>
          <a:p>
            <a:pPr marL="0" indent="0" fontAlgn="base">
              <a:buNone/>
            </a:pPr>
            <a:r>
              <a:rPr lang="en-US" sz="4800" dirty="0" err="1"/>
              <a:t>conf.setOutputValueClass</a:t>
            </a:r>
            <a:r>
              <a:rPr lang="en-US" sz="4800" dirty="0"/>
              <a:t>(</a:t>
            </a:r>
            <a:r>
              <a:rPr lang="en-US" sz="4800" dirty="0" err="1"/>
              <a:t>IntWritable.class</a:t>
            </a:r>
            <a:r>
              <a:rPr lang="en-US" sz="4800" dirty="0"/>
              <a:t>);</a:t>
            </a:r>
          </a:p>
          <a:p>
            <a:pPr marL="0" indent="0" fontAlgn="base">
              <a:buNone/>
            </a:pPr>
            <a:r>
              <a:rPr lang="en-US" sz="4800" dirty="0"/>
              <a:t> </a:t>
            </a:r>
          </a:p>
          <a:p>
            <a:pPr marL="0" indent="0" fontAlgn="base">
              <a:buNone/>
            </a:pPr>
            <a:r>
              <a:rPr lang="en-US" sz="4800" dirty="0"/>
              <a:t>// Set the Mapper Class</a:t>
            </a:r>
          </a:p>
          <a:p>
            <a:pPr marL="0" indent="0" fontAlgn="base">
              <a:buNone/>
            </a:pPr>
            <a:r>
              <a:rPr lang="en-US" sz="4800" dirty="0" err="1"/>
              <a:t>conf.setMapperClass</a:t>
            </a:r>
            <a:r>
              <a:rPr lang="en-US" sz="4800" dirty="0"/>
              <a:t>(</a:t>
            </a:r>
            <a:r>
              <a:rPr lang="en-US" sz="4800" dirty="0" err="1"/>
              <a:t>MyMapper.class</a:t>
            </a:r>
            <a:r>
              <a:rPr lang="en-US" sz="4800" dirty="0"/>
              <a:t>);</a:t>
            </a:r>
          </a:p>
          <a:p>
            <a:pPr marL="0" indent="0" fontAlgn="base">
              <a:buNone/>
            </a:pPr>
            <a:r>
              <a:rPr lang="en-US" sz="4800" dirty="0"/>
              <a:t> </a:t>
            </a:r>
          </a:p>
          <a:p>
            <a:pPr marL="0" indent="0" fontAlgn="base">
              <a:buNone/>
            </a:pPr>
            <a:r>
              <a:rPr lang="en-US" sz="4800" dirty="0"/>
              <a:t>// Set the Reducer Class</a:t>
            </a:r>
          </a:p>
          <a:p>
            <a:pPr marL="0" indent="0" fontAlgn="base">
              <a:buNone/>
            </a:pPr>
            <a:r>
              <a:rPr lang="en-US" sz="4800" dirty="0" err="1"/>
              <a:t>conf.setReducerClass</a:t>
            </a:r>
            <a:r>
              <a:rPr lang="en-US" sz="4800" dirty="0"/>
              <a:t>(</a:t>
            </a:r>
            <a:r>
              <a:rPr lang="en-US" sz="4800" dirty="0" err="1"/>
              <a:t>Reducer.class</a:t>
            </a:r>
            <a:r>
              <a:rPr lang="en-US" sz="4800" dirty="0"/>
              <a:t>);</a:t>
            </a:r>
          </a:p>
          <a:p>
            <a:pPr marL="0" indent="0" fontAlgn="base">
              <a:buNone/>
            </a:pPr>
            <a:r>
              <a:rPr lang="en-US" sz="4800" dirty="0"/>
              <a:t> </a:t>
            </a:r>
          </a:p>
          <a:p>
            <a:pPr marL="0" indent="0" fontAlgn="base">
              <a:buNone/>
            </a:pPr>
            <a:r>
              <a:rPr lang="en-US" sz="4800" dirty="0"/>
              <a:t>// Set the format of the input that will be provided to the program</a:t>
            </a:r>
          </a:p>
          <a:p>
            <a:pPr marL="0" indent="0" fontAlgn="base">
              <a:buNone/>
            </a:pPr>
            <a:r>
              <a:rPr lang="en-US" sz="4800" dirty="0" err="1"/>
              <a:t>conf.setInputFormat</a:t>
            </a:r>
            <a:r>
              <a:rPr lang="en-US" sz="4800" dirty="0"/>
              <a:t>(</a:t>
            </a:r>
            <a:r>
              <a:rPr lang="en-US" sz="4800" dirty="0" err="1"/>
              <a:t>TextInputFormat.class</a:t>
            </a:r>
            <a:r>
              <a:rPr lang="en-US" sz="4800" dirty="0"/>
              <a:t>);</a:t>
            </a:r>
          </a:p>
          <a:p>
            <a:pPr marL="0" indent="0" fontAlgn="base">
              <a:buNone/>
            </a:pPr>
            <a:r>
              <a:rPr lang="en-US" sz="4800" dirty="0"/>
              <a:t> </a:t>
            </a:r>
          </a:p>
          <a:p>
            <a:pPr marL="0" indent="0" fontAlgn="base">
              <a:buNone/>
            </a:pPr>
            <a:r>
              <a:rPr lang="en-US" sz="4800" dirty="0"/>
              <a:t>// Set the format of the output for the program</a:t>
            </a:r>
          </a:p>
          <a:p>
            <a:pPr marL="0" indent="0" fontAlgn="base">
              <a:buNone/>
            </a:pPr>
            <a:r>
              <a:rPr lang="en-US" sz="4800" dirty="0" err="1"/>
              <a:t>conf.setOutputFormat</a:t>
            </a:r>
            <a:r>
              <a:rPr lang="en-US" sz="4800" dirty="0"/>
              <a:t>(</a:t>
            </a:r>
            <a:r>
              <a:rPr lang="en-US" sz="4800" dirty="0" err="1"/>
              <a:t>TextOutputFormat.class</a:t>
            </a:r>
            <a:r>
              <a:rPr lang="en-US" sz="4800" dirty="0"/>
              <a:t>);</a:t>
            </a:r>
          </a:p>
          <a:p>
            <a:pPr marL="0" indent="0" fontAlgn="base">
              <a:buNone/>
            </a:pPr>
            <a:r>
              <a:rPr lang="en-US" sz="4800" dirty="0"/>
              <a:t> </a:t>
            </a:r>
          </a:p>
          <a:p>
            <a:pPr marL="0" indent="0" fontAlgn="base">
              <a:buNone/>
            </a:pPr>
            <a:r>
              <a:rPr lang="en-US" sz="4800" dirty="0"/>
              <a:t>// Set the location from where the Mapper will read the input</a:t>
            </a:r>
          </a:p>
          <a:p>
            <a:pPr marL="0" indent="0" fontAlgn="base">
              <a:buNone/>
            </a:pPr>
            <a:r>
              <a:rPr lang="en-US" sz="4800" dirty="0" err="1"/>
              <a:t>FileInputFormat.setInputPaths</a:t>
            </a:r>
            <a:r>
              <a:rPr lang="en-US" sz="4800" dirty="0"/>
              <a:t>(</a:t>
            </a:r>
            <a:r>
              <a:rPr lang="en-US" sz="4800" dirty="0" err="1"/>
              <a:t>conf</a:t>
            </a:r>
            <a:r>
              <a:rPr lang="en-US" sz="4800" dirty="0"/>
              <a:t>, new Path(</a:t>
            </a:r>
            <a:r>
              <a:rPr lang="en-US" sz="4800" dirty="0" err="1"/>
              <a:t>args</a:t>
            </a:r>
            <a:r>
              <a:rPr lang="en-US" sz="4800" dirty="0"/>
              <a:t>[0]));</a:t>
            </a:r>
          </a:p>
          <a:p>
            <a:pPr marL="0" indent="0" fontAlgn="base">
              <a:buNone/>
            </a:pPr>
            <a:r>
              <a:rPr lang="en-US" sz="4800" dirty="0"/>
              <a:t> </a:t>
            </a:r>
          </a:p>
          <a:p>
            <a:pPr marL="0" indent="0" fontAlgn="base">
              <a:buNone/>
            </a:pPr>
            <a:r>
              <a:rPr lang="en-US" sz="4800" dirty="0"/>
              <a:t>// Set the location where the Reducer will write the output</a:t>
            </a:r>
          </a:p>
          <a:p>
            <a:pPr marL="0" indent="0" fontAlgn="base">
              <a:buNone/>
            </a:pPr>
            <a:r>
              <a:rPr lang="en-US" sz="4800" dirty="0" err="1"/>
              <a:t>FileOutputFormat.setOutputPath</a:t>
            </a:r>
            <a:r>
              <a:rPr lang="en-US" sz="4800" dirty="0"/>
              <a:t>(</a:t>
            </a:r>
            <a:r>
              <a:rPr lang="en-US" sz="4800" dirty="0" err="1"/>
              <a:t>conf</a:t>
            </a:r>
            <a:r>
              <a:rPr lang="en-US" sz="4800" dirty="0"/>
              <a:t>, new Path(</a:t>
            </a:r>
            <a:r>
              <a:rPr lang="en-US" sz="4800" dirty="0" err="1"/>
              <a:t>args</a:t>
            </a:r>
            <a:r>
              <a:rPr lang="en-US" sz="4800" dirty="0"/>
              <a:t>[1]));</a:t>
            </a:r>
          </a:p>
          <a:p>
            <a:pPr marL="0" indent="0" fontAlgn="base">
              <a:buNone/>
            </a:pPr>
            <a:r>
              <a:rPr lang="en-US" sz="4800" dirty="0"/>
              <a:t> </a:t>
            </a:r>
          </a:p>
          <a:p>
            <a:pPr marL="0" indent="0" fontAlgn="base">
              <a:buNone/>
            </a:pPr>
            <a:r>
              <a:rPr lang="en-US" sz="4800" dirty="0"/>
              <a:t>// Run the job on the cluster</a:t>
            </a:r>
          </a:p>
          <a:p>
            <a:pPr marL="0" indent="0" fontAlgn="base">
              <a:buNone/>
            </a:pPr>
            <a:r>
              <a:rPr lang="en-US" sz="4800" dirty="0" err="1"/>
              <a:t>JobClient.runJob</a:t>
            </a:r>
            <a:r>
              <a:rPr lang="en-US" sz="4800" dirty="0"/>
              <a:t>(</a:t>
            </a:r>
            <a:r>
              <a:rPr lang="en-US" sz="4800" dirty="0" err="1"/>
              <a:t>conf</a:t>
            </a:r>
            <a:r>
              <a:rPr lang="en-US" sz="4800" dirty="0"/>
              <a:t>);</a:t>
            </a:r>
          </a:p>
          <a:p>
            <a:pPr marL="0" indent="0" fontAlgn="base">
              <a:buNone/>
            </a:pPr>
            <a:r>
              <a:rPr lang="en-US" sz="4800" dirty="0"/>
              <a:t>}</a:t>
            </a:r>
          </a:p>
          <a:p>
            <a:pPr marL="0" indent="0" fontAlgn="base">
              <a:buNone/>
            </a:pPr>
            <a:r>
              <a:rPr lang="en-US" sz="4800" dirty="0"/>
              <a:t>}</a:t>
            </a:r>
          </a:p>
          <a:p>
            <a:pPr marL="0" indent="0">
              <a:buNone/>
            </a:pPr>
            <a:endParaRPr lang="en-US" dirty="0"/>
          </a:p>
        </p:txBody>
      </p:sp>
    </p:spTree>
    <p:extLst>
      <p:ext uri="{BB962C8B-B14F-4D97-AF65-F5344CB8AC3E}">
        <p14:creationId xmlns:p14="http://schemas.microsoft.com/office/powerpoint/2010/main" val="19499230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Mapper</a:t>
            </a:r>
            <a:endParaRPr lang="en-US" dirty="0"/>
          </a:p>
        </p:txBody>
      </p:sp>
      <p:sp>
        <p:nvSpPr>
          <p:cNvPr id="3" name="Content Placeholder 2"/>
          <p:cNvSpPr>
            <a:spLocks noGrp="1"/>
          </p:cNvSpPr>
          <p:nvPr>
            <p:ph idx="1"/>
          </p:nvPr>
        </p:nvSpPr>
        <p:spPr/>
        <p:txBody>
          <a:bodyPr>
            <a:normAutofit fontScale="62500" lnSpcReduction="20000"/>
          </a:bodyPr>
          <a:lstStyle/>
          <a:p>
            <a:r>
              <a:rPr lang="en-US" dirty="0"/>
              <a:t>The Mapper code reads the input files as &lt;</a:t>
            </a:r>
            <a:r>
              <a:rPr lang="en-US" dirty="0" err="1"/>
              <a:t>Key,Value</a:t>
            </a:r>
            <a:r>
              <a:rPr lang="en-US" dirty="0"/>
              <a:t>&gt; pairs and emits key value pairs. The Mapper class extends </a:t>
            </a:r>
            <a:r>
              <a:rPr lang="en-US" dirty="0" err="1"/>
              <a:t>MapReduceBase</a:t>
            </a:r>
            <a:r>
              <a:rPr lang="en-US" dirty="0"/>
              <a:t> and implements the Mapper interface. The Mapper interface expects four generics, which define the types of the input and output key/value pairs. The first two parameters define the input key and value types, the second two define the output key and value types.</a:t>
            </a:r>
          </a:p>
          <a:p>
            <a:r>
              <a:rPr lang="en-US" dirty="0"/>
              <a:t>Some of the common libraries that are included for the Mapper class </a:t>
            </a:r>
            <a:r>
              <a:rPr lang="en-US" dirty="0" smtClean="0"/>
              <a:t>:</a:t>
            </a:r>
          </a:p>
          <a:p>
            <a:pPr fontAlgn="base"/>
            <a:r>
              <a:rPr lang="en-US" dirty="0"/>
              <a:t>import </a:t>
            </a:r>
            <a:r>
              <a:rPr lang="en-US" dirty="0" err="1"/>
              <a:t>java.io.IOException</a:t>
            </a:r>
            <a:r>
              <a:rPr lang="en-US" dirty="0"/>
              <a:t>;</a:t>
            </a:r>
          </a:p>
          <a:p>
            <a:pPr fontAlgn="base"/>
            <a:r>
              <a:rPr lang="en-US" dirty="0"/>
              <a:t>import </a:t>
            </a:r>
            <a:r>
              <a:rPr lang="en-US" dirty="0" err="1"/>
              <a:t>java.util</a:t>
            </a:r>
            <a:r>
              <a:rPr lang="en-US" dirty="0"/>
              <a:t>.*;</a:t>
            </a:r>
          </a:p>
          <a:p>
            <a:pPr fontAlgn="base"/>
            <a:r>
              <a:rPr lang="en-US" dirty="0"/>
              <a:t>import org.apache.hadoop.io.*;</a:t>
            </a:r>
          </a:p>
          <a:p>
            <a:pPr fontAlgn="base"/>
            <a:r>
              <a:rPr lang="en-US" dirty="0"/>
              <a:t>import </a:t>
            </a:r>
            <a:r>
              <a:rPr lang="en-US" dirty="0" err="1"/>
              <a:t>org.apache.hadoop.mapred</a:t>
            </a:r>
            <a:r>
              <a:rPr lang="en-US" dirty="0" smtClean="0"/>
              <a:t>.*;</a:t>
            </a:r>
          </a:p>
          <a:p>
            <a:pPr fontAlgn="base"/>
            <a:r>
              <a:rPr lang="en-US" dirty="0"/>
              <a:t>The map() function accepts the key, value, </a:t>
            </a:r>
            <a:r>
              <a:rPr lang="en-US" dirty="0" err="1"/>
              <a:t>OutputCollector</a:t>
            </a:r>
            <a:r>
              <a:rPr lang="en-US" dirty="0"/>
              <a:t> and an Reporter object. The </a:t>
            </a:r>
            <a:r>
              <a:rPr lang="en-US" dirty="0" err="1"/>
              <a:t>OutputCollector</a:t>
            </a:r>
            <a:r>
              <a:rPr lang="en-US" dirty="0"/>
              <a:t> is </a:t>
            </a:r>
            <a:r>
              <a:rPr lang="en-US" dirty="0" err="1"/>
              <a:t>resposible</a:t>
            </a:r>
            <a:r>
              <a:rPr lang="en-US" dirty="0"/>
              <a:t> for writing the intermediate data generated by the Mapper.</a:t>
            </a:r>
          </a:p>
          <a:p>
            <a:endParaRPr lang="en-US" dirty="0"/>
          </a:p>
          <a:p>
            <a:endParaRPr lang="en-US" dirty="0"/>
          </a:p>
        </p:txBody>
      </p:sp>
    </p:spTree>
    <p:extLst>
      <p:ext uri="{BB962C8B-B14F-4D97-AF65-F5344CB8AC3E}">
        <p14:creationId xmlns:p14="http://schemas.microsoft.com/office/powerpoint/2010/main" val="19992478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a:t>
            </a:r>
            <a:endParaRPr lang="en-US" dirty="0"/>
          </a:p>
        </p:txBody>
      </p:sp>
      <p:sp>
        <p:nvSpPr>
          <p:cNvPr id="3" name="Content Placeholder 2"/>
          <p:cNvSpPr>
            <a:spLocks noGrp="1"/>
          </p:cNvSpPr>
          <p:nvPr>
            <p:ph idx="1"/>
          </p:nvPr>
        </p:nvSpPr>
        <p:spPr/>
        <p:txBody>
          <a:bodyPr>
            <a:normAutofit fontScale="77500" lnSpcReduction="20000"/>
          </a:bodyPr>
          <a:lstStyle/>
          <a:p>
            <a:pPr marL="0" indent="0" fontAlgn="base">
              <a:buNone/>
            </a:pPr>
            <a:r>
              <a:rPr lang="en-US" dirty="0"/>
              <a:t>public class </a:t>
            </a:r>
            <a:r>
              <a:rPr lang="en-US" dirty="0" err="1"/>
              <a:t>MyMapper</a:t>
            </a:r>
            <a:r>
              <a:rPr lang="en-US" dirty="0"/>
              <a:t> extends </a:t>
            </a:r>
            <a:r>
              <a:rPr lang="en-US" dirty="0" err="1"/>
              <a:t>MapReduceBase</a:t>
            </a:r>
            <a:r>
              <a:rPr lang="en-US" dirty="0"/>
              <a:t> implements Mapper&lt;</a:t>
            </a:r>
            <a:r>
              <a:rPr lang="en-US" dirty="0" err="1"/>
              <a:t>LongWritable</a:t>
            </a:r>
            <a:r>
              <a:rPr lang="en-US" dirty="0"/>
              <a:t>, Text, Text, </a:t>
            </a:r>
            <a:r>
              <a:rPr lang="en-US" dirty="0" err="1"/>
              <a:t>IntWritable</a:t>
            </a:r>
            <a:r>
              <a:rPr lang="en-US" dirty="0"/>
              <a:t>&gt;{</a:t>
            </a:r>
          </a:p>
          <a:p>
            <a:pPr marL="0" indent="0" fontAlgn="base">
              <a:buNone/>
            </a:pPr>
            <a:r>
              <a:rPr lang="en-US" dirty="0"/>
              <a:t> </a:t>
            </a:r>
          </a:p>
          <a:p>
            <a:pPr marL="0" indent="0" fontAlgn="base">
              <a:buNone/>
            </a:pPr>
            <a:r>
              <a:rPr lang="en-US" dirty="0"/>
              <a:t>public void map(</a:t>
            </a:r>
            <a:r>
              <a:rPr lang="en-US" dirty="0" err="1"/>
              <a:t>LongWritable</a:t>
            </a:r>
            <a:r>
              <a:rPr lang="en-US" dirty="0"/>
              <a:t> key, Text value, </a:t>
            </a:r>
            <a:r>
              <a:rPr lang="en-US" dirty="0" err="1"/>
              <a:t>OutputCollector</a:t>
            </a:r>
            <a:r>
              <a:rPr lang="en-US" dirty="0"/>
              <a:t>&lt;Text, </a:t>
            </a:r>
            <a:r>
              <a:rPr lang="en-US" dirty="0" err="1"/>
              <a:t>IntWritable</a:t>
            </a:r>
            <a:r>
              <a:rPr lang="en-US" dirty="0"/>
              <a:t>&gt; </a:t>
            </a:r>
          </a:p>
          <a:p>
            <a:pPr marL="0" indent="0" fontAlgn="base">
              <a:buNone/>
            </a:pPr>
            <a:r>
              <a:rPr lang="en-US" dirty="0"/>
              <a:t>output, Reporter reporter) throws </a:t>
            </a:r>
            <a:r>
              <a:rPr lang="en-US" dirty="0" err="1"/>
              <a:t>IOException</a:t>
            </a:r>
            <a:r>
              <a:rPr lang="en-US" dirty="0"/>
              <a:t> {</a:t>
            </a:r>
          </a:p>
          <a:p>
            <a:pPr marL="0" indent="0" fontAlgn="base">
              <a:buNone/>
            </a:pPr>
            <a:r>
              <a:rPr lang="en-US" dirty="0" err="1"/>
              <a:t>output.collect</a:t>
            </a:r>
            <a:r>
              <a:rPr lang="en-US" dirty="0"/>
              <a:t>(</a:t>
            </a:r>
            <a:r>
              <a:rPr lang="en-US" dirty="0" err="1"/>
              <a:t>key,value</a:t>
            </a:r>
            <a:r>
              <a:rPr lang="en-US" dirty="0"/>
              <a:t>);</a:t>
            </a:r>
          </a:p>
          <a:p>
            <a:pPr marL="0" indent="0" fontAlgn="base">
              <a:buNone/>
            </a:pPr>
            <a:r>
              <a:rPr lang="en-US" dirty="0"/>
              <a:t>    }</a:t>
            </a:r>
          </a:p>
          <a:p>
            <a:pPr marL="0" indent="0" fontAlgn="base">
              <a:buNone/>
            </a:pPr>
            <a:r>
              <a:rPr lang="en-US" dirty="0"/>
              <a:t> </a:t>
            </a:r>
          </a:p>
          <a:p>
            <a:pPr marL="0" indent="0" fontAlgn="base">
              <a:buNone/>
            </a:pPr>
            <a:r>
              <a:rPr lang="en-US" dirty="0"/>
              <a:t>  }</a:t>
            </a:r>
          </a:p>
          <a:p>
            <a:pPr marL="0" indent="0" fontAlgn="base">
              <a:buNone/>
            </a:pPr>
            <a:r>
              <a:rPr lang="en-US" dirty="0"/>
              <a:t>}</a:t>
            </a:r>
          </a:p>
          <a:p>
            <a:pPr marL="0" indent="0">
              <a:buNone/>
            </a:pPr>
            <a:endParaRPr lang="en-US" dirty="0"/>
          </a:p>
        </p:txBody>
      </p:sp>
    </p:spTree>
    <p:extLst>
      <p:ext uri="{BB962C8B-B14F-4D97-AF65-F5344CB8AC3E}">
        <p14:creationId xmlns:p14="http://schemas.microsoft.com/office/powerpoint/2010/main" val="29628692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Reducer</a:t>
            </a:r>
            <a:endParaRPr lang="en-US" dirty="0"/>
          </a:p>
        </p:txBody>
      </p:sp>
      <p:sp>
        <p:nvSpPr>
          <p:cNvPr id="3" name="Content Placeholder 2"/>
          <p:cNvSpPr>
            <a:spLocks noGrp="1"/>
          </p:cNvSpPr>
          <p:nvPr>
            <p:ph idx="1"/>
          </p:nvPr>
        </p:nvSpPr>
        <p:spPr/>
        <p:txBody>
          <a:bodyPr>
            <a:normAutofit fontScale="62500" lnSpcReduction="20000"/>
          </a:bodyPr>
          <a:lstStyle/>
          <a:p>
            <a:r>
              <a:rPr lang="en-US" dirty="0"/>
              <a:t>The Reducer code reads the outputs generated by the different mappers as &lt;</a:t>
            </a:r>
            <a:r>
              <a:rPr lang="en-US" dirty="0" err="1"/>
              <a:t>Key,Value</a:t>
            </a:r>
            <a:r>
              <a:rPr lang="en-US" dirty="0"/>
              <a:t>&gt; pairs and emits key value pairs. The Reducer class extends </a:t>
            </a:r>
            <a:r>
              <a:rPr lang="en-US" dirty="0" err="1"/>
              <a:t>MapReduceBase</a:t>
            </a:r>
            <a:r>
              <a:rPr lang="en-US" dirty="0"/>
              <a:t> and implements the Reducer interface. The Reducer interface expects four generics, which define the types of the input and output key/value pairs. The first two parameters define the intermediate key and value types, the second two define the final output key and value types. The keys are </a:t>
            </a:r>
            <a:r>
              <a:rPr lang="en-US" dirty="0" err="1"/>
              <a:t>WritableComparables</a:t>
            </a:r>
            <a:r>
              <a:rPr lang="en-US" dirty="0"/>
              <a:t>, the values are </a:t>
            </a:r>
            <a:r>
              <a:rPr lang="en-US" dirty="0" err="1"/>
              <a:t>Writables</a:t>
            </a:r>
            <a:r>
              <a:rPr lang="en-US" dirty="0"/>
              <a:t>.</a:t>
            </a:r>
          </a:p>
          <a:p>
            <a:r>
              <a:rPr lang="en-US" dirty="0"/>
              <a:t>Some of the common libraries that are included for the Reducer class :</a:t>
            </a:r>
          </a:p>
          <a:p>
            <a:pPr fontAlgn="base"/>
            <a:r>
              <a:rPr lang="en-US" dirty="0"/>
              <a:t>import </a:t>
            </a:r>
            <a:r>
              <a:rPr lang="en-US" dirty="0" err="1"/>
              <a:t>java.io.IOException</a:t>
            </a:r>
            <a:r>
              <a:rPr lang="en-US" dirty="0"/>
              <a:t>;</a:t>
            </a:r>
          </a:p>
          <a:p>
            <a:pPr fontAlgn="base"/>
            <a:r>
              <a:rPr lang="en-US" dirty="0"/>
              <a:t>import </a:t>
            </a:r>
            <a:r>
              <a:rPr lang="en-US" dirty="0" err="1"/>
              <a:t>java.util</a:t>
            </a:r>
            <a:r>
              <a:rPr lang="en-US" dirty="0"/>
              <a:t>.*;</a:t>
            </a:r>
          </a:p>
          <a:p>
            <a:pPr fontAlgn="base"/>
            <a:r>
              <a:rPr lang="en-US" dirty="0"/>
              <a:t>import org.apache.hadoop.io.*;</a:t>
            </a:r>
          </a:p>
          <a:p>
            <a:pPr fontAlgn="base"/>
            <a:r>
              <a:rPr lang="en-US" dirty="0"/>
              <a:t>import </a:t>
            </a:r>
            <a:r>
              <a:rPr lang="en-US" dirty="0" err="1"/>
              <a:t>org.apache.hadoop.mapred</a:t>
            </a:r>
            <a:r>
              <a:rPr lang="en-US" dirty="0"/>
              <a:t>.*;</a:t>
            </a:r>
          </a:p>
          <a:p>
            <a:r>
              <a:rPr lang="en-US" dirty="0"/>
              <a:t>The reduce() function accepts the key, an iterator , </a:t>
            </a:r>
            <a:r>
              <a:rPr lang="en-US" dirty="0" err="1"/>
              <a:t>OutputCollector</a:t>
            </a:r>
            <a:r>
              <a:rPr lang="en-US" dirty="0"/>
              <a:t> and an Reporter object. The </a:t>
            </a:r>
            <a:r>
              <a:rPr lang="en-US" dirty="0" err="1"/>
              <a:t>OutputCollector</a:t>
            </a:r>
            <a:r>
              <a:rPr lang="en-US" dirty="0"/>
              <a:t> is </a:t>
            </a:r>
            <a:r>
              <a:rPr lang="en-US" dirty="0" err="1"/>
              <a:t>resposible</a:t>
            </a:r>
            <a:r>
              <a:rPr lang="en-US" dirty="0"/>
              <a:t> for writing the final output result.</a:t>
            </a:r>
          </a:p>
        </p:txBody>
      </p:sp>
    </p:spTree>
    <p:extLst>
      <p:ext uri="{BB962C8B-B14F-4D97-AF65-F5344CB8AC3E}">
        <p14:creationId xmlns:p14="http://schemas.microsoft.com/office/powerpoint/2010/main" val="8038326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a:t>
            </a:r>
            <a:endParaRPr lang="en-US" dirty="0"/>
          </a:p>
        </p:txBody>
      </p:sp>
      <p:sp>
        <p:nvSpPr>
          <p:cNvPr id="3" name="Content Placeholder 2"/>
          <p:cNvSpPr>
            <a:spLocks noGrp="1"/>
          </p:cNvSpPr>
          <p:nvPr>
            <p:ph idx="1"/>
          </p:nvPr>
        </p:nvSpPr>
        <p:spPr/>
        <p:txBody>
          <a:bodyPr>
            <a:normAutofit fontScale="85000" lnSpcReduction="20000"/>
          </a:bodyPr>
          <a:lstStyle/>
          <a:p>
            <a:pPr marL="0" indent="0" fontAlgn="base">
              <a:buNone/>
            </a:pPr>
            <a:r>
              <a:rPr lang="en-US" dirty="0"/>
              <a:t>public class </a:t>
            </a:r>
            <a:r>
              <a:rPr lang="en-US" dirty="0" err="1"/>
              <a:t>MyReducer</a:t>
            </a:r>
            <a:r>
              <a:rPr lang="en-US" dirty="0"/>
              <a:t> extends </a:t>
            </a:r>
            <a:r>
              <a:rPr lang="en-US" dirty="0" err="1"/>
              <a:t>MapReduceBase</a:t>
            </a:r>
            <a:r>
              <a:rPr lang="en-US" dirty="0"/>
              <a:t> implements Reducer&lt;</a:t>
            </a:r>
            <a:r>
              <a:rPr lang="en-US" dirty="0" err="1"/>
              <a:t>Text,IntWritable,Text,IntWritable</a:t>
            </a:r>
            <a:r>
              <a:rPr lang="en-US" dirty="0"/>
              <a:t>&gt; {</a:t>
            </a:r>
          </a:p>
          <a:p>
            <a:pPr marL="0" indent="0" fontAlgn="base">
              <a:buNone/>
            </a:pPr>
            <a:r>
              <a:rPr lang="en-US" dirty="0"/>
              <a:t>@Override</a:t>
            </a:r>
          </a:p>
          <a:p>
            <a:pPr marL="0" indent="0" fontAlgn="base">
              <a:buNone/>
            </a:pPr>
            <a:r>
              <a:rPr lang="en-US" dirty="0"/>
              <a:t>public void reduce(Text key, Iterator&lt;</a:t>
            </a:r>
            <a:r>
              <a:rPr lang="en-US" dirty="0" err="1"/>
              <a:t>IntWritable</a:t>
            </a:r>
            <a:r>
              <a:rPr lang="en-US" dirty="0"/>
              <a:t>&gt; values, </a:t>
            </a:r>
          </a:p>
          <a:p>
            <a:pPr marL="0" indent="0" fontAlgn="base">
              <a:buNone/>
            </a:pPr>
            <a:r>
              <a:rPr lang="en-US" dirty="0" err="1"/>
              <a:t>OutputCollector</a:t>
            </a:r>
            <a:r>
              <a:rPr lang="en-US" dirty="0"/>
              <a:t>&lt;Text, </a:t>
            </a:r>
            <a:r>
              <a:rPr lang="en-US" dirty="0" err="1"/>
              <a:t>IntWritable</a:t>
            </a:r>
            <a:r>
              <a:rPr lang="en-US" dirty="0"/>
              <a:t>&gt; output, Reporter reporter) throws </a:t>
            </a:r>
            <a:r>
              <a:rPr lang="en-US" dirty="0" err="1"/>
              <a:t>IOException</a:t>
            </a:r>
            <a:r>
              <a:rPr lang="en-US" dirty="0"/>
              <a:t>{</a:t>
            </a:r>
          </a:p>
          <a:p>
            <a:pPr marL="0" indent="0" fontAlgn="base">
              <a:buNone/>
            </a:pPr>
            <a:r>
              <a:rPr lang="en-US" dirty="0"/>
              <a:t>   </a:t>
            </a:r>
            <a:r>
              <a:rPr lang="en-US" dirty="0" err="1"/>
              <a:t>output.collect</a:t>
            </a:r>
            <a:r>
              <a:rPr lang="en-US" dirty="0"/>
              <a:t>(</a:t>
            </a:r>
            <a:r>
              <a:rPr lang="en-US" dirty="0" err="1"/>
              <a:t>key,value</a:t>
            </a:r>
            <a:r>
              <a:rPr lang="en-US" dirty="0"/>
              <a:t>);</a:t>
            </a:r>
          </a:p>
          <a:p>
            <a:pPr marL="0" indent="0" fontAlgn="base">
              <a:buNone/>
            </a:pPr>
            <a:r>
              <a:rPr lang="en-US" dirty="0"/>
              <a:t>    }</a:t>
            </a:r>
          </a:p>
          <a:p>
            <a:pPr marL="0" indent="0" fontAlgn="base">
              <a:buNone/>
            </a:pPr>
            <a:r>
              <a:rPr lang="en-US" dirty="0"/>
              <a:t> </a:t>
            </a:r>
          </a:p>
          <a:p>
            <a:pPr marL="0" indent="0" fontAlgn="base">
              <a:buNone/>
            </a:pPr>
            <a:r>
              <a:rPr lang="en-US" dirty="0"/>
              <a:t>  }</a:t>
            </a:r>
          </a:p>
          <a:p>
            <a:pPr marL="0" indent="0" fontAlgn="base">
              <a:buNone/>
            </a:pPr>
            <a:r>
              <a:rPr lang="en-US" dirty="0"/>
              <a:t>}</a:t>
            </a:r>
          </a:p>
          <a:p>
            <a:endParaRPr lang="en-US" dirty="0"/>
          </a:p>
        </p:txBody>
      </p:sp>
    </p:spTree>
    <p:extLst>
      <p:ext uri="{BB962C8B-B14F-4D97-AF65-F5344CB8AC3E}">
        <p14:creationId xmlns:p14="http://schemas.microsoft.com/office/powerpoint/2010/main" val="38885163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Word counting using </a:t>
            </a:r>
            <a:r>
              <a:rPr lang="en-US" sz="3200" b="1" dirty="0" err="1" smtClean="0"/>
              <a:t>MapReduce</a:t>
            </a:r>
            <a:r>
              <a:rPr lang="en-US" sz="3200" b="1" dirty="0" smtClean="0"/>
              <a:t> - </a:t>
            </a:r>
            <a:r>
              <a:rPr lang="en-US" sz="3200" dirty="0" err="1"/>
              <a:t>Hello,World</a:t>
            </a:r>
            <a:r>
              <a:rPr lang="en-US" sz="3200" dirty="0"/>
              <a:t> program for </a:t>
            </a:r>
            <a:r>
              <a:rPr lang="en-US" sz="3200" dirty="0" err="1"/>
              <a:t>MapReduce</a:t>
            </a:r>
            <a:endParaRPr lang="en-US" sz="3200" dirty="0"/>
          </a:p>
        </p:txBody>
      </p:sp>
      <p:sp>
        <p:nvSpPr>
          <p:cNvPr id="3" name="Content Placeholder 2"/>
          <p:cNvSpPr>
            <a:spLocks noGrp="1"/>
          </p:cNvSpPr>
          <p:nvPr>
            <p:ph idx="1"/>
          </p:nvPr>
        </p:nvSpPr>
        <p:spPr/>
        <p:txBody>
          <a:bodyPr/>
          <a:lstStyle/>
          <a:p>
            <a:r>
              <a:rPr lang="en-US" dirty="0"/>
              <a:t>For this example let us consider the following input</a:t>
            </a:r>
            <a:r>
              <a:rPr lang="en-US" dirty="0" smtClean="0"/>
              <a:t>:</a:t>
            </a:r>
          </a:p>
          <a:p>
            <a:r>
              <a:rPr lang="en-US" dirty="0"/>
              <a:t>she sells sea shells on the sea </a:t>
            </a:r>
            <a:r>
              <a:rPr lang="en-US" dirty="0" smtClean="0"/>
              <a:t>shore</a:t>
            </a:r>
          </a:p>
          <a:p>
            <a:r>
              <a:rPr lang="en-US" b="1" dirty="0"/>
              <a:t>Mapper for Word </a:t>
            </a:r>
            <a:r>
              <a:rPr lang="en-US" b="1" dirty="0" smtClean="0"/>
              <a:t>Count</a:t>
            </a:r>
          </a:p>
          <a:p>
            <a:r>
              <a:rPr lang="en-US" b="1" dirty="0"/>
              <a:t>Reducer for Word </a:t>
            </a:r>
            <a:r>
              <a:rPr lang="en-US" b="1" dirty="0" smtClean="0"/>
              <a:t>Count</a:t>
            </a:r>
          </a:p>
          <a:p>
            <a:r>
              <a:rPr lang="en-US" b="1" dirty="0"/>
              <a:t>Driver for Word Count</a:t>
            </a:r>
            <a:endParaRPr lang="en-US" dirty="0"/>
          </a:p>
        </p:txBody>
      </p:sp>
    </p:spTree>
    <p:extLst>
      <p:ext uri="{BB962C8B-B14F-4D97-AF65-F5344CB8AC3E}">
        <p14:creationId xmlns:p14="http://schemas.microsoft.com/office/powerpoint/2010/main" val="20299512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FLOW</a:t>
            </a:r>
            <a:endParaRPr lang="en-US" dirty="0"/>
          </a:p>
        </p:txBody>
      </p:sp>
      <p:pic>
        <p:nvPicPr>
          <p:cNvPr id="4" name="Picture 3" descr="MapReduceWordCountOverview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06513"/>
            <a:ext cx="9144000" cy="424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73355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62500" lnSpcReduction="20000"/>
          </a:bodyPr>
          <a:lstStyle/>
          <a:p>
            <a:pPr marL="0" indent="0" fontAlgn="base">
              <a:buNone/>
            </a:pPr>
            <a:r>
              <a:rPr lang="en-US" dirty="0"/>
              <a:t>package </a:t>
            </a:r>
            <a:r>
              <a:rPr lang="en-US" dirty="0" err="1"/>
              <a:t>wordcount</a:t>
            </a:r>
            <a:r>
              <a:rPr lang="en-US" dirty="0"/>
              <a:t>;</a:t>
            </a:r>
          </a:p>
          <a:p>
            <a:pPr marL="0" indent="0" fontAlgn="base">
              <a:buNone/>
            </a:pPr>
            <a:r>
              <a:rPr lang="en-US" dirty="0"/>
              <a:t> </a:t>
            </a:r>
          </a:p>
          <a:p>
            <a:pPr marL="0" indent="0" fontAlgn="base">
              <a:buNone/>
            </a:pPr>
            <a:r>
              <a:rPr lang="en-US" dirty="0"/>
              <a:t>import java.io.*;</a:t>
            </a:r>
          </a:p>
          <a:p>
            <a:pPr marL="0" indent="0" fontAlgn="base">
              <a:buNone/>
            </a:pPr>
            <a:r>
              <a:rPr lang="en-US" dirty="0"/>
              <a:t>import </a:t>
            </a:r>
            <a:r>
              <a:rPr lang="en-US" dirty="0" err="1"/>
              <a:t>java.util</a:t>
            </a:r>
            <a:r>
              <a:rPr lang="en-US" dirty="0"/>
              <a:t>.*;</a:t>
            </a:r>
          </a:p>
          <a:p>
            <a:pPr marL="0" indent="0" fontAlgn="base">
              <a:buNone/>
            </a:pPr>
            <a:r>
              <a:rPr lang="en-US" dirty="0"/>
              <a:t> </a:t>
            </a:r>
          </a:p>
          <a:p>
            <a:pPr marL="0" indent="0" fontAlgn="base">
              <a:buNone/>
            </a:pPr>
            <a:r>
              <a:rPr lang="en-US" dirty="0"/>
              <a:t>import org.apache.hadoop.io.*;</a:t>
            </a:r>
          </a:p>
          <a:p>
            <a:pPr marL="0" indent="0" fontAlgn="base">
              <a:buNone/>
            </a:pPr>
            <a:r>
              <a:rPr lang="en-US" dirty="0"/>
              <a:t>import </a:t>
            </a:r>
            <a:r>
              <a:rPr lang="en-US" dirty="0" err="1"/>
              <a:t>org.apache.hadoop.mapred</a:t>
            </a:r>
            <a:r>
              <a:rPr lang="en-US" dirty="0"/>
              <a:t>.*;</a:t>
            </a:r>
          </a:p>
          <a:p>
            <a:pPr marL="0" indent="0" fontAlgn="base">
              <a:buNone/>
            </a:pPr>
            <a:r>
              <a:rPr lang="en-US" dirty="0"/>
              <a:t> </a:t>
            </a:r>
          </a:p>
          <a:p>
            <a:pPr marL="0" indent="0" fontAlgn="base">
              <a:buNone/>
            </a:pPr>
            <a:r>
              <a:rPr lang="en-US" dirty="0"/>
              <a:t>public class </a:t>
            </a:r>
            <a:r>
              <a:rPr lang="en-US" dirty="0" err="1"/>
              <a:t>WordCountMapper</a:t>
            </a:r>
            <a:r>
              <a:rPr lang="en-US" dirty="0"/>
              <a:t> extends </a:t>
            </a:r>
            <a:r>
              <a:rPr lang="en-US" dirty="0" err="1"/>
              <a:t>MapReduceBase</a:t>
            </a:r>
            <a:r>
              <a:rPr lang="en-US" dirty="0"/>
              <a:t> implements Mapper&lt;</a:t>
            </a:r>
            <a:r>
              <a:rPr lang="en-US" dirty="0" err="1"/>
              <a:t>LongWritable</a:t>
            </a:r>
            <a:r>
              <a:rPr lang="en-US" dirty="0"/>
              <a:t>, Text, Text, </a:t>
            </a:r>
            <a:r>
              <a:rPr lang="en-US" dirty="0" err="1"/>
              <a:t>IntWritable</a:t>
            </a:r>
            <a:r>
              <a:rPr lang="en-US" dirty="0"/>
              <a:t>&gt;{</a:t>
            </a:r>
          </a:p>
          <a:p>
            <a:pPr marL="0" indent="0" fontAlgn="base">
              <a:buNone/>
            </a:pPr>
            <a:r>
              <a:rPr lang="en-US" dirty="0"/>
              <a:t>    public void map(</a:t>
            </a:r>
            <a:r>
              <a:rPr lang="en-US" dirty="0" err="1"/>
              <a:t>LongWritable</a:t>
            </a:r>
            <a:r>
              <a:rPr lang="en-US" dirty="0"/>
              <a:t> key, Text value, </a:t>
            </a:r>
            <a:r>
              <a:rPr lang="en-US" dirty="0" err="1"/>
              <a:t>OutputCollector</a:t>
            </a:r>
            <a:r>
              <a:rPr lang="en-US" dirty="0"/>
              <a:t>&lt;Text, </a:t>
            </a:r>
            <a:r>
              <a:rPr lang="en-US" dirty="0" err="1"/>
              <a:t>IntWritable</a:t>
            </a:r>
            <a:r>
              <a:rPr lang="en-US" dirty="0"/>
              <a:t>&gt; output, Reporter reporter) throws </a:t>
            </a:r>
            <a:r>
              <a:rPr lang="en-US" dirty="0" err="1"/>
              <a:t>IOException</a:t>
            </a:r>
            <a:r>
              <a:rPr lang="en-US" dirty="0"/>
              <a:t> {</a:t>
            </a:r>
          </a:p>
          <a:p>
            <a:pPr marL="0" indent="0" fontAlgn="base">
              <a:buNone/>
            </a:pPr>
            <a:r>
              <a:rPr lang="en-US" dirty="0"/>
              <a:t>        </a:t>
            </a:r>
            <a:r>
              <a:rPr lang="en-US" dirty="0" err="1"/>
              <a:t>StringTokenizer</a:t>
            </a:r>
            <a:r>
              <a:rPr lang="en-US" dirty="0"/>
              <a:t> </a:t>
            </a:r>
            <a:r>
              <a:rPr lang="en-US" dirty="0" err="1"/>
              <a:t>st</a:t>
            </a:r>
            <a:r>
              <a:rPr lang="en-US" dirty="0"/>
              <a:t> = new </a:t>
            </a:r>
            <a:r>
              <a:rPr lang="en-US" dirty="0" err="1"/>
              <a:t>StringTokenizer</a:t>
            </a:r>
            <a:r>
              <a:rPr lang="en-US" dirty="0"/>
              <a:t>(</a:t>
            </a:r>
            <a:r>
              <a:rPr lang="en-US" dirty="0" err="1"/>
              <a:t>value.toString</a:t>
            </a:r>
            <a:r>
              <a:rPr lang="en-US" dirty="0"/>
              <a:t>().</a:t>
            </a:r>
            <a:r>
              <a:rPr lang="en-US" dirty="0" err="1"/>
              <a:t>toLowerCase</a:t>
            </a:r>
            <a:r>
              <a:rPr lang="en-US" dirty="0"/>
              <a:t>());</a:t>
            </a:r>
          </a:p>
          <a:p>
            <a:pPr marL="0" indent="0" fontAlgn="base">
              <a:buNone/>
            </a:pPr>
            <a:r>
              <a:rPr lang="en-US" dirty="0"/>
              <a:t>        while(</a:t>
            </a:r>
            <a:r>
              <a:rPr lang="en-US" dirty="0" err="1"/>
              <a:t>st.hasMoreTokens</a:t>
            </a:r>
            <a:r>
              <a:rPr lang="en-US" dirty="0"/>
              <a:t>()) {</a:t>
            </a:r>
          </a:p>
          <a:p>
            <a:pPr marL="0" indent="0" fontAlgn="base">
              <a:buNone/>
            </a:pPr>
            <a:r>
              <a:rPr lang="en-US" dirty="0"/>
              <a:t>            </a:t>
            </a:r>
            <a:r>
              <a:rPr lang="en-US" dirty="0" err="1"/>
              <a:t>output.collect</a:t>
            </a:r>
            <a:r>
              <a:rPr lang="en-US" dirty="0"/>
              <a:t>(new Text(</a:t>
            </a:r>
            <a:r>
              <a:rPr lang="en-US" dirty="0" err="1"/>
              <a:t>st.nextToken</a:t>
            </a:r>
            <a:r>
              <a:rPr lang="en-US" dirty="0"/>
              <a:t>()), new </a:t>
            </a:r>
            <a:r>
              <a:rPr lang="en-US" dirty="0" err="1"/>
              <a:t>IntWritable</a:t>
            </a:r>
            <a:r>
              <a:rPr lang="en-US" dirty="0"/>
              <a:t>(1));</a:t>
            </a:r>
          </a:p>
          <a:p>
            <a:pPr marL="0" indent="0" fontAlgn="base">
              <a:buNone/>
            </a:pPr>
            <a:r>
              <a:rPr lang="en-US" dirty="0"/>
              <a:t>        }</a:t>
            </a:r>
          </a:p>
          <a:p>
            <a:pPr marL="0" indent="0" fontAlgn="base">
              <a:buNone/>
            </a:pPr>
            <a:r>
              <a:rPr lang="en-US" dirty="0"/>
              <a:t>    }</a:t>
            </a:r>
          </a:p>
          <a:p>
            <a:pPr marL="0" indent="0" fontAlgn="base">
              <a:buNone/>
            </a:pPr>
            <a:r>
              <a:rPr lang="en-US" dirty="0"/>
              <a:t>}</a:t>
            </a:r>
          </a:p>
          <a:p>
            <a:pPr marL="0" indent="0" fontAlgn="base">
              <a:buNone/>
            </a:pPr>
            <a:endParaRPr lang="en-US" dirty="0"/>
          </a:p>
        </p:txBody>
      </p:sp>
    </p:spTree>
    <p:extLst>
      <p:ext uri="{BB962C8B-B14F-4D97-AF65-F5344CB8AC3E}">
        <p14:creationId xmlns:p14="http://schemas.microsoft.com/office/powerpoint/2010/main" val="422514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o/p</a:t>
            </a:r>
            <a:endParaRPr lang="en-US" dirty="0"/>
          </a:p>
        </p:txBody>
      </p:sp>
      <p:sp>
        <p:nvSpPr>
          <p:cNvPr id="3" name="Content Placeholder 2"/>
          <p:cNvSpPr>
            <a:spLocks noGrp="1"/>
          </p:cNvSpPr>
          <p:nvPr>
            <p:ph idx="1"/>
          </p:nvPr>
        </p:nvSpPr>
        <p:spPr/>
        <p:txBody>
          <a:bodyPr>
            <a:normAutofit fontScale="77500" lnSpcReduction="20000"/>
          </a:bodyPr>
          <a:lstStyle/>
          <a:p>
            <a:r>
              <a:rPr lang="en-US" dirty="0"/>
              <a:t>When the Mapper receives this line each and every word of the sentence is broken down into &lt;key, value&gt; pairs.</a:t>
            </a:r>
          </a:p>
          <a:p>
            <a:r>
              <a:rPr lang="en-US" dirty="0"/>
              <a:t>So, for the </a:t>
            </a:r>
            <a:r>
              <a:rPr lang="en-US" dirty="0" smtClean="0"/>
              <a:t>input </a:t>
            </a:r>
            <a:r>
              <a:rPr lang="en-US" dirty="0"/>
              <a:t>line the following &lt;key, value&gt; pairs will be generated</a:t>
            </a:r>
            <a:r>
              <a:rPr lang="en-US" dirty="0" smtClean="0"/>
              <a:t>:</a:t>
            </a:r>
          </a:p>
          <a:p>
            <a:pPr marL="0" indent="0" fontAlgn="base">
              <a:buNone/>
            </a:pPr>
            <a:r>
              <a:rPr lang="en-US" dirty="0"/>
              <a:t>&lt;she,1&gt;</a:t>
            </a:r>
          </a:p>
          <a:p>
            <a:pPr marL="0" indent="0" fontAlgn="base">
              <a:buNone/>
            </a:pPr>
            <a:r>
              <a:rPr lang="en-US" dirty="0"/>
              <a:t>&lt;sells,1&gt;</a:t>
            </a:r>
          </a:p>
          <a:p>
            <a:pPr marL="0" indent="0" fontAlgn="base">
              <a:buNone/>
            </a:pPr>
            <a:r>
              <a:rPr lang="en-US" dirty="0"/>
              <a:t>&lt;sea,1&gt;</a:t>
            </a:r>
          </a:p>
          <a:p>
            <a:pPr marL="0" indent="0" fontAlgn="base">
              <a:buNone/>
            </a:pPr>
            <a:r>
              <a:rPr lang="en-US" dirty="0"/>
              <a:t>&lt;shells,1&gt;</a:t>
            </a:r>
          </a:p>
          <a:p>
            <a:pPr marL="0" indent="0" fontAlgn="base">
              <a:buNone/>
            </a:pPr>
            <a:r>
              <a:rPr lang="en-US" dirty="0"/>
              <a:t>&lt;on,1&gt;</a:t>
            </a:r>
          </a:p>
          <a:p>
            <a:pPr marL="0" indent="0" fontAlgn="base">
              <a:buNone/>
            </a:pPr>
            <a:r>
              <a:rPr lang="en-US" dirty="0"/>
              <a:t>&lt;the,1&gt;</a:t>
            </a:r>
          </a:p>
          <a:p>
            <a:pPr marL="0" indent="0" fontAlgn="base">
              <a:buNone/>
            </a:pPr>
            <a:r>
              <a:rPr lang="en-US" dirty="0"/>
              <a:t>&lt;sea,1&gt;</a:t>
            </a:r>
          </a:p>
          <a:p>
            <a:pPr marL="0" indent="0" fontAlgn="base">
              <a:buNone/>
            </a:pPr>
            <a:r>
              <a:rPr lang="en-US" dirty="0"/>
              <a:t>&lt;shore,1&gt;</a:t>
            </a:r>
          </a:p>
          <a:p>
            <a:endParaRPr lang="en-US" dirty="0"/>
          </a:p>
          <a:p>
            <a:endParaRPr lang="en-US" dirty="0"/>
          </a:p>
        </p:txBody>
      </p:sp>
    </p:spTree>
    <p:extLst>
      <p:ext uri="{BB962C8B-B14F-4D97-AF65-F5344CB8AC3E}">
        <p14:creationId xmlns:p14="http://schemas.microsoft.com/office/powerpoint/2010/main" val="23833181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62500" lnSpcReduction="20000"/>
          </a:bodyPr>
          <a:lstStyle/>
          <a:p>
            <a:pPr marL="0" indent="0" fontAlgn="base">
              <a:buNone/>
            </a:pPr>
            <a:r>
              <a:rPr lang="en-US" dirty="0"/>
              <a:t>package </a:t>
            </a:r>
            <a:r>
              <a:rPr lang="en-US" dirty="0" err="1"/>
              <a:t>wordcount</a:t>
            </a:r>
            <a:r>
              <a:rPr lang="en-US" dirty="0"/>
              <a:t>;</a:t>
            </a:r>
          </a:p>
          <a:p>
            <a:pPr marL="0" indent="0" fontAlgn="base">
              <a:buNone/>
            </a:pPr>
            <a:r>
              <a:rPr lang="en-US" dirty="0"/>
              <a:t> </a:t>
            </a:r>
          </a:p>
          <a:p>
            <a:pPr marL="0" indent="0" fontAlgn="base">
              <a:buNone/>
            </a:pPr>
            <a:r>
              <a:rPr lang="en-US" dirty="0"/>
              <a:t>import java.io.*;</a:t>
            </a:r>
          </a:p>
          <a:p>
            <a:pPr marL="0" indent="0" fontAlgn="base">
              <a:buNone/>
            </a:pPr>
            <a:r>
              <a:rPr lang="en-US" dirty="0"/>
              <a:t>import </a:t>
            </a:r>
            <a:r>
              <a:rPr lang="en-US" dirty="0" err="1"/>
              <a:t>java.util</a:t>
            </a:r>
            <a:r>
              <a:rPr lang="en-US" dirty="0"/>
              <a:t>.*;</a:t>
            </a:r>
          </a:p>
          <a:p>
            <a:pPr marL="0" indent="0" fontAlgn="base">
              <a:buNone/>
            </a:pPr>
            <a:r>
              <a:rPr lang="en-US" dirty="0"/>
              <a:t>import org.apache.hadoop.io.*;</a:t>
            </a:r>
          </a:p>
          <a:p>
            <a:pPr marL="0" indent="0" fontAlgn="base">
              <a:buNone/>
            </a:pPr>
            <a:r>
              <a:rPr lang="en-US" dirty="0"/>
              <a:t>import </a:t>
            </a:r>
            <a:r>
              <a:rPr lang="en-US" dirty="0" err="1"/>
              <a:t>org.apache.hadoop.mapred</a:t>
            </a:r>
            <a:r>
              <a:rPr lang="en-US" dirty="0"/>
              <a:t>.*;</a:t>
            </a:r>
          </a:p>
          <a:p>
            <a:pPr marL="0" indent="0" fontAlgn="base">
              <a:buNone/>
            </a:pPr>
            <a:r>
              <a:rPr lang="en-US" dirty="0"/>
              <a:t> </a:t>
            </a:r>
          </a:p>
          <a:p>
            <a:pPr marL="0" indent="0" fontAlgn="base">
              <a:buNone/>
            </a:pPr>
            <a:r>
              <a:rPr lang="en-US" dirty="0"/>
              <a:t>public class </a:t>
            </a:r>
            <a:r>
              <a:rPr lang="en-US" dirty="0" err="1"/>
              <a:t>WordCountReducer</a:t>
            </a:r>
            <a:r>
              <a:rPr lang="en-US" dirty="0"/>
              <a:t> extends </a:t>
            </a:r>
            <a:r>
              <a:rPr lang="en-US" dirty="0" err="1"/>
              <a:t>MapReduceBase</a:t>
            </a:r>
            <a:r>
              <a:rPr lang="en-US" dirty="0"/>
              <a:t> implements Reducer&lt;Text, </a:t>
            </a:r>
            <a:r>
              <a:rPr lang="en-US" dirty="0" err="1"/>
              <a:t>IntWritable</a:t>
            </a:r>
            <a:r>
              <a:rPr lang="en-US" dirty="0"/>
              <a:t>, Text, </a:t>
            </a:r>
            <a:r>
              <a:rPr lang="en-US" dirty="0" err="1"/>
              <a:t>IntWritable</a:t>
            </a:r>
            <a:r>
              <a:rPr lang="en-US" dirty="0"/>
              <a:t>&gt;{</a:t>
            </a:r>
          </a:p>
          <a:p>
            <a:pPr marL="0" indent="0" fontAlgn="base">
              <a:buNone/>
            </a:pPr>
            <a:r>
              <a:rPr lang="en-US" dirty="0"/>
              <a:t>    public void reduce(Text key, Iterator&lt;</a:t>
            </a:r>
            <a:r>
              <a:rPr lang="en-US" dirty="0" err="1"/>
              <a:t>IntWritable</a:t>
            </a:r>
            <a:r>
              <a:rPr lang="en-US" dirty="0"/>
              <a:t>&gt; values, </a:t>
            </a:r>
            <a:r>
              <a:rPr lang="en-US" dirty="0" err="1"/>
              <a:t>OutputCollector</a:t>
            </a:r>
            <a:r>
              <a:rPr lang="en-US" dirty="0"/>
              <a:t>&lt;</a:t>
            </a:r>
            <a:r>
              <a:rPr lang="en-US" dirty="0" err="1"/>
              <a:t>Text,IntWritable</a:t>
            </a:r>
            <a:r>
              <a:rPr lang="en-US" dirty="0"/>
              <a:t>&gt; output, Reporter reporter) throws </a:t>
            </a:r>
            <a:r>
              <a:rPr lang="en-US" dirty="0" err="1"/>
              <a:t>IOException</a:t>
            </a:r>
            <a:r>
              <a:rPr lang="en-US" dirty="0"/>
              <a:t> {</a:t>
            </a:r>
          </a:p>
          <a:p>
            <a:pPr marL="0" indent="0" fontAlgn="base">
              <a:buNone/>
            </a:pPr>
            <a:r>
              <a:rPr lang="en-US" dirty="0"/>
              <a:t>        </a:t>
            </a:r>
            <a:r>
              <a:rPr lang="en-US" dirty="0" err="1"/>
              <a:t>int</a:t>
            </a:r>
            <a:r>
              <a:rPr lang="en-US" dirty="0"/>
              <a:t> count = 0;</a:t>
            </a:r>
          </a:p>
          <a:p>
            <a:pPr marL="0" indent="0" fontAlgn="base">
              <a:buNone/>
            </a:pPr>
            <a:r>
              <a:rPr lang="en-US" dirty="0"/>
              <a:t>        while(</a:t>
            </a:r>
            <a:r>
              <a:rPr lang="en-US" dirty="0" err="1"/>
              <a:t>values.hasNext</a:t>
            </a:r>
            <a:r>
              <a:rPr lang="en-US" dirty="0"/>
              <a:t>()) {</a:t>
            </a:r>
          </a:p>
          <a:p>
            <a:pPr marL="0" indent="0" fontAlgn="base">
              <a:buNone/>
            </a:pPr>
            <a:r>
              <a:rPr lang="en-US" dirty="0"/>
              <a:t>            count += </a:t>
            </a:r>
            <a:r>
              <a:rPr lang="en-US" dirty="0" err="1"/>
              <a:t>values.next</a:t>
            </a:r>
            <a:r>
              <a:rPr lang="en-US" dirty="0"/>
              <a:t>().get();</a:t>
            </a:r>
          </a:p>
          <a:p>
            <a:pPr marL="0" indent="0" fontAlgn="base">
              <a:buNone/>
            </a:pPr>
            <a:r>
              <a:rPr lang="en-US" dirty="0"/>
              <a:t>        }</a:t>
            </a:r>
          </a:p>
          <a:p>
            <a:pPr marL="0" indent="0" fontAlgn="base">
              <a:buNone/>
            </a:pPr>
            <a:r>
              <a:rPr lang="en-US" dirty="0"/>
              <a:t>        </a:t>
            </a:r>
            <a:r>
              <a:rPr lang="en-US" dirty="0" err="1"/>
              <a:t>output.collect</a:t>
            </a:r>
            <a:r>
              <a:rPr lang="en-US" dirty="0"/>
              <a:t>(key, new </a:t>
            </a:r>
            <a:r>
              <a:rPr lang="en-US" dirty="0" err="1"/>
              <a:t>IntWritable</a:t>
            </a:r>
            <a:r>
              <a:rPr lang="en-US" dirty="0"/>
              <a:t>(count));</a:t>
            </a:r>
          </a:p>
          <a:p>
            <a:pPr marL="0" indent="0" fontAlgn="base">
              <a:buNone/>
            </a:pPr>
            <a:r>
              <a:rPr lang="en-US" dirty="0"/>
              <a:t>    }</a:t>
            </a:r>
          </a:p>
          <a:p>
            <a:pPr marL="0" indent="0" fontAlgn="base">
              <a:buNone/>
            </a:pPr>
            <a:r>
              <a:rPr lang="en-US" dirty="0"/>
              <a:t>}</a:t>
            </a:r>
          </a:p>
          <a:p>
            <a:endParaRPr lang="en-US" dirty="0"/>
          </a:p>
        </p:txBody>
      </p:sp>
    </p:spTree>
    <p:extLst>
      <p:ext uri="{BB962C8B-B14F-4D97-AF65-F5344CB8AC3E}">
        <p14:creationId xmlns:p14="http://schemas.microsoft.com/office/powerpoint/2010/main" val="41308029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Reducer O/P</a:t>
            </a:r>
            <a:endParaRPr lang="en-US" dirty="0"/>
          </a:p>
        </p:txBody>
      </p:sp>
      <p:sp>
        <p:nvSpPr>
          <p:cNvPr id="3" name="Content Placeholder 2"/>
          <p:cNvSpPr>
            <a:spLocks noGrp="1"/>
          </p:cNvSpPr>
          <p:nvPr>
            <p:ph idx="1"/>
          </p:nvPr>
        </p:nvSpPr>
        <p:spPr/>
        <p:txBody>
          <a:bodyPr>
            <a:normAutofit fontScale="77500" lnSpcReduction="20000"/>
          </a:bodyPr>
          <a:lstStyle/>
          <a:p>
            <a:r>
              <a:rPr lang="en-US" dirty="0"/>
              <a:t>The reducer receives all the key value pairs for in the sorted order of the key. As you can see above the reduce method takes in all &lt;key, value&gt; pairs and increments a counter for values with the same key and emits it out. So the output </a:t>
            </a:r>
            <a:r>
              <a:rPr lang="en-US" dirty="0" smtClean="0"/>
              <a:t>of </a:t>
            </a:r>
            <a:r>
              <a:rPr lang="en-US" dirty="0"/>
              <a:t>the reducer will be as follows</a:t>
            </a:r>
            <a:r>
              <a:rPr lang="en-US" dirty="0" smtClean="0"/>
              <a:t>:</a:t>
            </a:r>
          </a:p>
          <a:p>
            <a:pPr marL="0" indent="0" fontAlgn="base">
              <a:buNone/>
            </a:pPr>
            <a:r>
              <a:rPr lang="en-US" dirty="0"/>
              <a:t>&lt;on, 1&gt;</a:t>
            </a:r>
          </a:p>
          <a:p>
            <a:pPr marL="0" indent="0" fontAlgn="base">
              <a:buNone/>
            </a:pPr>
            <a:r>
              <a:rPr lang="en-US" dirty="0"/>
              <a:t>&lt;sea, 2&gt;</a:t>
            </a:r>
          </a:p>
          <a:p>
            <a:pPr marL="0" indent="0" fontAlgn="base">
              <a:buNone/>
            </a:pPr>
            <a:r>
              <a:rPr lang="en-US" dirty="0"/>
              <a:t>&lt;sells, 1&gt;</a:t>
            </a:r>
          </a:p>
          <a:p>
            <a:pPr marL="0" indent="0" fontAlgn="base">
              <a:buNone/>
            </a:pPr>
            <a:r>
              <a:rPr lang="en-US" dirty="0"/>
              <a:t>&lt;she, 1&gt;</a:t>
            </a:r>
          </a:p>
          <a:p>
            <a:pPr marL="0" indent="0" fontAlgn="base">
              <a:buNone/>
            </a:pPr>
            <a:r>
              <a:rPr lang="en-US" dirty="0"/>
              <a:t>&lt;shells, 1&gt;</a:t>
            </a:r>
          </a:p>
          <a:p>
            <a:pPr marL="0" indent="0" fontAlgn="base">
              <a:buNone/>
            </a:pPr>
            <a:r>
              <a:rPr lang="en-US" dirty="0"/>
              <a:t>&lt;shore, 1&gt;</a:t>
            </a:r>
          </a:p>
          <a:p>
            <a:pPr marL="0" indent="0" fontAlgn="base">
              <a:buNone/>
            </a:pPr>
            <a:r>
              <a:rPr lang="en-US" dirty="0"/>
              <a:t>&lt;the, 1&gt;</a:t>
            </a:r>
          </a:p>
          <a:p>
            <a:endParaRPr lang="en-US" dirty="0"/>
          </a:p>
        </p:txBody>
      </p:sp>
    </p:spTree>
    <p:extLst>
      <p:ext uri="{BB962C8B-B14F-4D97-AF65-F5344CB8AC3E}">
        <p14:creationId xmlns:p14="http://schemas.microsoft.com/office/powerpoint/2010/main" val="38036451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400800"/>
          </a:xfrm>
        </p:spPr>
        <p:txBody>
          <a:bodyPr>
            <a:normAutofit fontScale="32500" lnSpcReduction="20000"/>
          </a:bodyPr>
          <a:lstStyle/>
          <a:p>
            <a:pPr marL="0" indent="0" fontAlgn="base">
              <a:buNone/>
            </a:pPr>
            <a:r>
              <a:rPr lang="en-US" dirty="0"/>
              <a:t>package </a:t>
            </a:r>
            <a:r>
              <a:rPr lang="en-US" dirty="0" err="1"/>
              <a:t>wordcount</a:t>
            </a:r>
            <a:r>
              <a:rPr lang="en-US" dirty="0"/>
              <a:t>;</a:t>
            </a:r>
          </a:p>
          <a:p>
            <a:pPr marL="0" indent="0" fontAlgn="base">
              <a:buNone/>
            </a:pPr>
            <a:r>
              <a:rPr lang="en-US" dirty="0"/>
              <a:t> </a:t>
            </a:r>
          </a:p>
          <a:p>
            <a:pPr marL="0" indent="0" fontAlgn="base">
              <a:buNone/>
            </a:pPr>
            <a:r>
              <a:rPr lang="en-US" dirty="0"/>
              <a:t>import java.io.*;</a:t>
            </a:r>
          </a:p>
          <a:p>
            <a:pPr marL="0" indent="0" fontAlgn="base">
              <a:buNone/>
            </a:pPr>
            <a:r>
              <a:rPr lang="en-US" dirty="0"/>
              <a:t> </a:t>
            </a:r>
          </a:p>
          <a:p>
            <a:pPr marL="0" indent="0" fontAlgn="base">
              <a:buNone/>
            </a:pPr>
            <a:r>
              <a:rPr lang="en-US" dirty="0"/>
              <a:t>import </a:t>
            </a:r>
            <a:r>
              <a:rPr lang="en-US" dirty="0" err="1"/>
              <a:t>org.apache.hadoop.fs</a:t>
            </a:r>
            <a:r>
              <a:rPr lang="en-US" dirty="0"/>
              <a:t>.*;</a:t>
            </a:r>
          </a:p>
          <a:p>
            <a:pPr marL="0" indent="0" fontAlgn="base">
              <a:buNone/>
            </a:pPr>
            <a:r>
              <a:rPr lang="en-US" dirty="0"/>
              <a:t>import org.apache.hadoop.io.*;</a:t>
            </a:r>
          </a:p>
          <a:p>
            <a:pPr marL="0" indent="0" fontAlgn="base">
              <a:buNone/>
            </a:pPr>
            <a:r>
              <a:rPr lang="en-US" dirty="0"/>
              <a:t>import </a:t>
            </a:r>
            <a:r>
              <a:rPr lang="en-US" dirty="0" err="1"/>
              <a:t>org.apache.hadoop.mapred</a:t>
            </a:r>
            <a:r>
              <a:rPr lang="en-US" dirty="0"/>
              <a:t>.*;</a:t>
            </a:r>
          </a:p>
          <a:p>
            <a:pPr marL="0" indent="0" fontAlgn="base">
              <a:buNone/>
            </a:pPr>
            <a:r>
              <a:rPr lang="en-US" dirty="0"/>
              <a:t>import </a:t>
            </a:r>
            <a:r>
              <a:rPr lang="en-US" dirty="0" err="1"/>
              <a:t>org.apache.hadoop.util</a:t>
            </a:r>
            <a:r>
              <a:rPr lang="en-US" dirty="0"/>
              <a:t>.*;</a:t>
            </a:r>
          </a:p>
          <a:p>
            <a:pPr marL="0" indent="0" fontAlgn="base">
              <a:buNone/>
            </a:pPr>
            <a:r>
              <a:rPr lang="en-US" dirty="0"/>
              <a:t>import </a:t>
            </a:r>
            <a:r>
              <a:rPr lang="en-US" dirty="0" err="1"/>
              <a:t>org.apache.hadoop.conf</a:t>
            </a:r>
            <a:r>
              <a:rPr lang="en-US" dirty="0"/>
              <a:t>.*;</a:t>
            </a:r>
          </a:p>
          <a:p>
            <a:pPr marL="0" indent="0" fontAlgn="base">
              <a:buNone/>
            </a:pPr>
            <a:r>
              <a:rPr lang="en-US" dirty="0"/>
              <a:t> </a:t>
            </a:r>
          </a:p>
          <a:p>
            <a:pPr marL="0" indent="0" fontAlgn="base">
              <a:buNone/>
            </a:pPr>
            <a:r>
              <a:rPr lang="en-US" dirty="0"/>
              <a:t>public class </a:t>
            </a:r>
            <a:r>
              <a:rPr lang="en-US" dirty="0" err="1"/>
              <a:t>WordCount</a:t>
            </a:r>
            <a:r>
              <a:rPr lang="en-US" dirty="0"/>
              <a:t> extends Configured implements Tool{</a:t>
            </a:r>
          </a:p>
          <a:p>
            <a:pPr marL="0" indent="0" fontAlgn="base">
              <a:buNone/>
            </a:pPr>
            <a:r>
              <a:rPr lang="en-US" dirty="0"/>
              <a:t> </a:t>
            </a:r>
          </a:p>
          <a:p>
            <a:pPr marL="0" indent="0" fontAlgn="base">
              <a:buNone/>
            </a:pPr>
            <a:r>
              <a:rPr lang="en-US" dirty="0"/>
              <a:t>    public </a:t>
            </a:r>
            <a:r>
              <a:rPr lang="en-US" dirty="0" err="1"/>
              <a:t>int</a:t>
            </a:r>
            <a:r>
              <a:rPr lang="en-US" dirty="0"/>
              <a:t> run(String[] </a:t>
            </a:r>
            <a:r>
              <a:rPr lang="en-US" dirty="0" err="1"/>
              <a:t>args</a:t>
            </a:r>
            <a:r>
              <a:rPr lang="en-US" dirty="0"/>
              <a:t>) throws </a:t>
            </a:r>
            <a:r>
              <a:rPr lang="en-US" dirty="0" err="1"/>
              <a:t>IOException</a:t>
            </a:r>
            <a:r>
              <a:rPr lang="en-US" dirty="0"/>
              <a:t>{</a:t>
            </a:r>
          </a:p>
          <a:p>
            <a:pPr marL="0" indent="0" fontAlgn="base">
              <a:buNone/>
            </a:pPr>
            <a:r>
              <a:rPr lang="en-US" dirty="0"/>
              <a:t>        </a:t>
            </a:r>
            <a:r>
              <a:rPr lang="en-US" dirty="0" err="1"/>
              <a:t>JobConf</a:t>
            </a:r>
            <a:r>
              <a:rPr lang="en-US" dirty="0"/>
              <a:t> </a:t>
            </a:r>
            <a:r>
              <a:rPr lang="en-US" dirty="0" err="1"/>
              <a:t>conf</a:t>
            </a:r>
            <a:r>
              <a:rPr lang="en-US" dirty="0"/>
              <a:t> = new </a:t>
            </a:r>
            <a:r>
              <a:rPr lang="en-US" dirty="0" err="1"/>
              <a:t>JobConf</a:t>
            </a:r>
            <a:r>
              <a:rPr lang="en-US" dirty="0"/>
              <a:t>(</a:t>
            </a:r>
            <a:r>
              <a:rPr lang="en-US" dirty="0" err="1"/>
              <a:t>WordCount.class</a:t>
            </a:r>
            <a:r>
              <a:rPr lang="en-US" dirty="0"/>
              <a:t>);</a:t>
            </a:r>
          </a:p>
          <a:p>
            <a:pPr marL="0" indent="0" fontAlgn="base">
              <a:buNone/>
            </a:pPr>
            <a:r>
              <a:rPr lang="en-US" dirty="0"/>
              <a:t>        </a:t>
            </a:r>
            <a:r>
              <a:rPr lang="en-US" dirty="0" err="1"/>
              <a:t>conf.setJobName</a:t>
            </a:r>
            <a:r>
              <a:rPr lang="en-US" dirty="0"/>
              <a:t>("</a:t>
            </a:r>
            <a:r>
              <a:rPr lang="en-US" dirty="0" err="1"/>
              <a:t>wordcount</a:t>
            </a:r>
            <a:r>
              <a:rPr lang="en-US" dirty="0"/>
              <a:t>");</a:t>
            </a:r>
          </a:p>
          <a:p>
            <a:pPr marL="0" indent="0" fontAlgn="base">
              <a:buNone/>
            </a:pPr>
            <a:r>
              <a:rPr lang="en-US" dirty="0"/>
              <a:t> </a:t>
            </a:r>
          </a:p>
          <a:p>
            <a:pPr marL="0" indent="0" fontAlgn="base">
              <a:buNone/>
            </a:pPr>
            <a:r>
              <a:rPr lang="en-US" dirty="0"/>
              <a:t>        </a:t>
            </a:r>
            <a:r>
              <a:rPr lang="en-US" dirty="0" err="1"/>
              <a:t>conf.setOutputKeyClass</a:t>
            </a:r>
            <a:r>
              <a:rPr lang="en-US" dirty="0"/>
              <a:t>(</a:t>
            </a:r>
            <a:r>
              <a:rPr lang="en-US" dirty="0" err="1"/>
              <a:t>Text.class</a:t>
            </a:r>
            <a:r>
              <a:rPr lang="en-US" dirty="0"/>
              <a:t>);</a:t>
            </a:r>
          </a:p>
          <a:p>
            <a:pPr marL="0" indent="0" fontAlgn="base">
              <a:buNone/>
            </a:pPr>
            <a:r>
              <a:rPr lang="en-US" dirty="0"/>
              <a:t>        </a:t>
            </a:r>
            <a:r>
              <a:rPr lang="en-US" dirty="0" err="1"/>
              <a:t>conf.setOutputValueClass</a:t>
            </a:r>
            <a:r>
              <a:rPr lang="en-US" dirty="0"/>
              <a:t>(</a:t>
            </a:r>
            <a:r>
              <a:rPr lang="en-US" dirty="0" err="1"/>
              <a:t>IntWritable.class</a:t>
            </a:r>
            <a:r>
              <a:rPr lang="en-US" dirty="0"/>
              <a:t>);</a:t>
            </a:r>
          </a:p>
          <a:p>
            <a:pPr marL="0" indent="0" fontAlgn="base">
              <a:buNone/>
            </a:pPr>
            <a:r>
              <a:rPr lang="en-US" dirty="0"/>
              <a:t> </a:t>
            </a:r>
          </a:p>
          <a:p>
            <a:pPr marL="0" indent="0" fontAlgn="base">
              <a:buNone/>
            </a:pPr>
            <a:r>
              <a:rPr lang="en-US" dirty="0"/>
              <a:t>        </a:t>
            </a:r>
            <a:r>
              <a:rPr lang="en-US" dirty="0" err="1"/>
              <a:t>conf.setMapperClass</a:t>
            </a:r>
            <a:r>
              <a:rPr lang="en-US" dirty="0"/>
              <a:t>(</a:t>
            </a:r>
            <a:r>
              <a:rPr lang="en-US" dirty="0" err="1"/>
              <a:t>WordCountMapper.class</a:t>
            </a:r>
            <a:r>
              <a:rPr lang="en-US" dirty="0"/>
              <a:t>);</a:t>
            </a:r>
          </a:p>
          <a:p>
            <a:pPr marL="0" indent="0" fontAlgn="base">
              <a:buNone/>
            </a:pPr>
            <a:r>
              <a:rPr lang="en-US" dirty="0"/>
              <a:t>        </a:t>
            </a:r>
            <a:r>
              <a:rPr lang="en-US" dirty="0" err="1"/>
              <a:t>conf.setReducerClass</a:t>
            </a:r>
            <a:r>
              <a:rPr lang="en-US" dirty="0"/>
              <a:t>(</a:t>
            </a:r>
            <a:r>
              <a:rPr lang="en-US" dirty="0" err="1"/>
              <a:t>WordCountReducer.class</a:t>
            </a:r>
            <a:r>
              <a:rPr lang="en-US" dirty="0"/>
              <a:t>);</a:t>
            </a:r>
          </a:p>
          <a:p>
            <a:pPr marL="0" indent="0" fontAlgn="base">
              <a:buNone/>
            </a:pPr>
            <a:r>
              <a:rPr lang="en-US" dirty="0"/>
              <a:t> </a:t>
            </a:r>
          </a:p>
          <a:p>
            <a:pPr marL="0" indent="0" fontAlgn="base">
              <a:buNone/>
            </a:pPr>
            <a:r>
              <a:rPr lang="en-US" dirty="0"/>
              <a:t>        </a:t>
            </a:r>
            <a:r>
              <a:rPr lang="en-US" dirty="0" err="1"/>
              <a:t>conf.setInputFormat</a:t>
            </a:r>
            <a:r>
              <a:rPr lang="en-US" dirty="0"/>
              <a:t>(</a:t>
            </a:r>
            <a:r>
              <a:rPr lang="en-US" dirty="0" err="1"/>
              <a:t>TextInputFormat.class</a:t>
            </a:r>
            <a:r>
              <a:rPr lang="en-US" dirty="0"/>
              <a:t>);</a:t>
            </a:r>
          </a:p>
          <a:p>
            <a:pPr marL="0" indent="0" fontAlgn="base">
              <a:buNone/>
            </a:pPr>
            <a:r>
              <a:rPr lang="en-US" dirty="0"/>
              <a:t>        </a:t>
            </a:r>
            <a:r>
              <a:rPr lang="en-US" dirty="0" err="1"/>
              <a:t>conf.setOutputFormat</a:t>
            </a:r>
            <a:r>
              <a:rPr lang="en-US" dirty="0"/>
              <a:t>(</a:t>
            </a:r>
            <a:r>
              <a:rPr lang="en-US" dirty="0" err="1"/>
              <a:t>TextOutputFormat.class</a:t>
            </a:r>
            <a:r>
              <a:rPr lang="en-US" dirty="0"/>
              <a:t>);</a:t>
            </a:r>
          </a:p>
          <a:p>
            <a:pPr marL="0" indent="0" fontAlgn="base">
              <a:buNone/>
            </a:pPr>
            <a:r>
              <a:rPr lang="en-US" dirty="0"/>
              <a:t> </a:t>
            </a:r>
          </a:p>
          <a:p>
            <a:pPr marL="0" indent="0" fontAlgn="base">
              <a:buNone/>
            </a:pPr>
            <a:r>
              <a:rPr lang="en-US" dirty="0"/>
              <a:t>        </a:t>
            </a:r>
            <a:r>
              <a:rPr lang="en-US" dirty="0" err="1"/>
              <a:t>FileInputFormat.setInputPaths</a:t>
            </a:r>
            <a:r>
              <a:rPr lang="en-US" dirty="0"/>
              <a:t>(</a:t>
            </a:r>
            <a:r>
              <a:rPr lang="en-US" dirty="0" err="1"/>
              <a:t>conf</a:t>
            </a:r>
            <a:r>
              <a:rPr lang="en-US" dirty="0"/>
              <a:t>, new Path(</a:t>
            </a:r>
            <a:r>
              <a:rPr lang="en-US" dirty="0" err="1"/>
              <a:t>args</a:t>
            </a:r>
            <a:r>
              <a:rPr lang="en-US" dirty="0"/>
              <a:t>[0]));</a:t>
            </a:r>
          </a:p>
          <a:p>
            <a:pPr marL="0" indent="0" fontAlgn="base">
              <a:buNone/>
            </a:pPr>
            <a:r>
              <a:rPr lang="en-US" dirty="0"/>
              <a:t>        </a:t>
            </a:r>
            <a:r>
              <a:rPr lang="en-US" dirty="0" err="1"/>
              <a:t>FileOutputFormat.setOutputPath</a:t>
            </a:r>
            <a:r>
              <a:rPr lang="en-US" dirty="0"/>
              <a:t>(</a:t>
            </a:r>
            <a:r>
              <a:rPr lang="en-US" dirty="0" err="1"/>
              <a:t>conf</a:t>
            </a:r>
            <a:r>
              <a:rPr lang="en-US" dirty="0"/>
              <a:t>, new Path(</a:t>
            </a:r>
            <a:r>
              <a:rPr lang="en-US" dirty="0" err="1"/>
              <a:t>args</a:t>
            </a:r>
            <a:r>
              <a:rPr lang="en-US" dirty="0"/>
              <a:t>[1]));</a:t>
            </a:r>
          </a:p>
          <a:p>
            <a:pPr marL="0" indent="0" fontAlgn="base">
              <a:buNone/>
            </a:pPr>
            <a:r>
              <a:rPr lang="en-US" dirty="0"/>
              <a:t> </a:t>
            </a:r>
          </a:p>
          <a:p>
            <a:pPr marL="0" indent="0" fontAlgn="base">
              <a:buNone/>
            </a:pPr>
            <a:r>
              <a:rPr lang="en-US" dirty="0"/>
              <a:t>        </a:t>
            </a:r>
            <a:r>
              <a:rPr lang="en-US" dirty="0" err="1"/>
              <a:t>JobClient.runJob</a:t>
            </a:r>
            <a:r>
              <a:rPr lang="en-US" dirty="0"/>
              <a:t>(</a:t>
            </a:r>
            <a:r>
              <a:rPr lang="en-US" dirty="0" err="1"/>
              <a:t>conf</a:t>
            </a:r>
            <a:r>
              <a:rPr lang="en-US" dirty="0"/>
              <a:t>);</a:t>
            </a:r>
          </a:p>
          <a:p>
            <a:pPr marL="0" indent="0" fontAlgn="base">
              <a:buNone/>
            </a:pPr>
            <a:r>
              <a:rPr lang="en-US" dirty="0"/>
              <a:t> </a:t>
            </a:r>
          </a:p>
          <a:p>
            <a:pPr marL="0" indent="0" fontAlgn="base">
              <a:buNone/>
            </a:pPr>
            <a:r>
              <a:rPr lang="en-US" dirty="0"/>
              <a:t>        return 0;</a:t>
            </a:r>
          </a:p>
          <a:p>
            <a:pPr marL="0" indent="0" fontAlgn="base">
              <a:buNone/>
            </a:pPr>
            <a:r>
              <a:rPr lang="en-US" dirty="0"/>
              <a:t>    }</a:t>
            </a:r>
          </a:p>
          <a:p>
            <a:pPr marL="0" indent="0" fontAlgn="base">
              <a:buNone/>
            </a:pPr>
            <a:r>
              <a:rPr lang="en-US" dirty="0"/>
              <a:t> </a:t>
            </a:r>
          </a:p>
          <a:p>
            <a:pPr marL="0" indent="0" fontAlgn="base">
              <a:buNone/>
            </a:pPr>
            <a:r>
              <a:rPr lang="en-US" dirty="0"/>
              <a:t>    public static void main(String[] </a:t>
            </a:r>
            <a:r>
              <a:rPr lang="en-US" dirty="0" err="1"/>
              <a:t>args</a:t>
            </a:r>
            <a:r>
              <a:rPr lang="en-US" dirty="0"/>
              <a:t>) throws Exception {</a:t>
            </a:r>
          </a:p>
          <a:p>
            <a:pPr marL="0" indent="0" fontAlgn="base">
              <a:buNone/>
            </a:pPr>
            <a:r>
              <a:rPr lang="en-US" dirty="0"/>
              <a:t>        </a:t>
            </a:r>
            <a:r>
              <a:rPr lang="en-US" dirty="0" err="1"/>
              <a:t>int</a:t>
            </a:r>
            <a:r>
              <a:rPr lang="en-US" dirty="0"/>
              <a:t> </a:t>
            </a:r>
            <a:r>
              <a:rPr lang="en-US" dirty="0" err="1"/>
              <a:t>exitCode</a:t>
            </a:r>
            <a:r>
              <a:rPr lang="en-US" dirty="0"/>
              <a:t> = </a:t>
            </a:r>
            <a:r>
              <a:rPr lang="en-US" dirty="0" err="1"/>
              <a:t>ToolRunner.run</a:t>
            </a:r>
            <a:r>
              <a:rPr lang="en-US" dirty="0"/>
              <a:t>(new </a:t>
            </a:r>
            <a:r>
              <a:rPr lang="en-US" dirty="0" err="1"/>
              <a:t>WordCount</a:t>
            </a:r>
            <a:r>
              <a:rPr lang="en-US" dirty="0"/>
              <a:t>(), </a:t>
            </a:r>
            <a:r>
              <a:rPr lang="en-US" dirty="0" err="1"/>
              <a:t>args</a:t>
            </a:r>
            <a:r>
              <a:rPr lang="en-US" dirty="0"/>
              <a:t>);</a:t>
            </a:r>
          </a:p>
          <a:p>
            <a:pPr marL="0" indent="0" fontAlgn="base">
              <a:buNone/>
            </a:pPr>
            <a:r>
              <a:rPr lang="en-US" dirty="0"/>
              <a:t>        </a:t>
            </a:r>
            <a:r>
              <a:rPr lang="en-US" dirty="0" err="1"/>
              <a:t>System.exit</a:t>
            </a:r>
            <a:r>
              <a:rPr lang="en-US" dirty="0"/>
              <a:t>(</a:t>
            </a:r>
            <a:r>
              <a:rPr lang="en-US" dirty="0" err="1"/>
              <a:t>exitCode</a:t>
            </a:r>
            <a:r>
              <a:rPr lang="en-US" dirty="0"/>
              <a:t>);</a:t>
            </a:r>
          </a:p>
          <a:p>
            <a:pPr marL="0" indent="0" fontAlgn="base">
              <a:buNone/>
            </a:pPr>
            <a:r>
              <a:rPr lang="en-US" dirty="0"/>
              <a:t>    }</a:t>
            </a:r>
          </a:p>
          <a:p>
            <a:pPr marL="0" indent="0" fontAlgn="base">
              <a:buNone/>
            </a:pPr>
            <a:r>
              <a:rPr lang="en-US" dirty="0"/>
              <a:t> </a:t>
            </a:r>
          </a:p>
          <a:p>
            <a:pPr marL="0" indent="0" fontAlgn="base">
              <a:buNone/>
            </a:pPr>
            <a:r>
              <a:rPr lang="en-US" dirty="0" smtClean="0"/>
              <a:t>}</a:t>
            </a:r>
            <a:endParaRPr lang="en-US" dirty="0"/>
          </a:p>
        </p:txBody>
      </p:sp>
    </p:spTree>
    <p:extLst>
      <p:ext uri="{BB962C8B-B14F-4D97-AF65-F5344CB8AC3E}">
        <p14:creationId xmlns:p14="http://schemas.microsoft.com/office/powerpoint/2010/main" val="38605406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a:t>LISTING AND KILLING JOBS:</a:t>
            </a:r>
            <a:br>
              <a:rPr lang="en-US" b="1" cap="all" dirty="0"/>
            </a:br>
            <a:endParaRPr lang="en-US" dirty="0"/>
          </a:p>
        </p:txBody>
      </p:sp>
      <p:sp>
        <p:nvSpPr>
          <p:cNvPr id="3" name="Content Placeholder 2"/>
          <p:cNvSpPr>
            <a:spLocks noGrp="1"/>
          </p:cNvSpPr>
          <p:nvPr>
            <p:ph idx="1"/>
          </p:nvPr>
        </p:nvSpPr>
        <p:spPr/>
        <p:txBody>
          <a:bodyPr>
            <a:normAutofit fontScale="70000" lnSpcReduction="20000"/>
          </a:bodyPr>
          <a:lstStyle/>
          <a:p>
            <a:r>
              <a:rPr lang="en-US" dirty="0"/>
              <a:t>It is possible to submit jobs to a Hadoop cluster which malfunction and send themselves into infinite loops or other problematic states. In this case, you will want to manually kill the job you have started.</a:t>
            </a:r>
          </a:p>
          <a:p>
            <a:r>
              <a:rPr lang="en-US" dirty="0"/>
              <a:t>The following command, run in the Hadoop installation directory on a Hadoop cluster, will list all the current jobs:</a:t>
            </a:r>
          </a:p>
          <a:p>
            <a:r>
              <a:rPr lang="en-US" dirty="0"/>
              <a:t>$ bin/</a:t>
            </a:r>
            <a:r>
              <a:rPr lang="en-US" dirty="0" err="1"/>
              <a:t>hadoop</a:t>
            </a:r>
            <a:r>
              <a:rPr lang="en-US" dirty="0"/>
              <a:t> job -list</a:t>
            </a:r>
          </a:p>
          <a:p>
            <a:r>
              <a:rPr lang="en-US" dirty="0"/>
              <a:t>This will produce output that looks something like:</a:t>
            </a:r>
          </a:p>
          <a:p>
            <a:r>
              <a:rPr lang="en-US" dirty="0"/>
              <a:t>1 jobs currently running </a:t>
            </a:r>
            <a:r>
              <a:rPr lang="en-US" dirty="0" err="1"/>
              <a:t>JobId</a:t>
            </a:r>
            <a:r>
              <a:rPr lang="en-US" dirty="0"/>
              <a:t> State </a:t>
            </a:r>
            <a:r>
              <a:rPr lang="en-US" dirty="0" err="1"/>
              <a:t>StartTime</a:t>
            </a:r>
            <a:r>
              <a:rPr lang="en-US" dirty="0"/>
              <a:t> </a:t>
            </a:r>
            <a:r>
              <a:rPr lang="en-US" dirty="0" err="1"/>
              <a:t>UserName</a:t>
            </a:r>
            <a:r>
              <a:rPr lang="en-US" dirty="0"/>
              <a:t> job_200808111901_0001 1 1218506470390 </a:t>
            </a:r>
            <a:r>
              <a:rPr lang="en-US" dirty="0" err="1"/>
              <a:t>aaron</a:t>
            </a:r>
            <a:endParaRPr lang="en-US" dirty="0"/>
          </a:p>
          <a:p>
            <a:r>
              <a:rPr lang="en-US" dirty="0"/>
              <a:t>You can use this job id to kill the job; the command is:</a:t>
            </a:r>
          </a:p>
          <a:p>
            <a:r>
              <a:rPr lang="en-US" dirty="0"/>
              <a:t>$ bin/</a:t>
            </a:r>
            <a:r>
              <a:rPr lang="en-US" dirty="0" err="1"/>
              <a:t>hadoop</a:t>
            </a:r>
            <a:r>
              <a:rPr lang="en-US" dirty="0"/>
              <a:t> job -kill </a:t>
            </a:r>
            <a:r>
              <a:rPr lang="en-US" i="1" dirty="0" err="1"/>
              <a:t>jobid</a:t>
            </a:r>
            <a:endParaRPr lang="en-US" dirty="0"/>
          </a:p>
          <a:p>
            <a:r>
              <a:rPr lang="en-US" dirty="0"/>
              <a:t>Substitute the "job_2008..." from the -list command for </a:t>
            </a:r>
            <a:r>
              <a:rPr lang="en-US" i="1" dirty="0" err="1"/>
              <a:t>jobid</a:t>
            </a:r>
            <a:r>
              <a:rPr lang="en-US" dirty="0"/>
              <a:t>.</a:t>
            </a:r>
          </a:p>
          <a:p>
            <a:endParaRPr lang="en-US" dirty="0"/>
          </a:p>
        </p:txBody>
      </p:sp>
    </p:spTree>
    <p:extLst>
      <p:ext uri="{BB962C8B-B14F-4D97-AF65-F5344CB8AC3E}">
        <p14:creationId xmlns:p14="http://schemas.microsoft.com/office/powerpoint/2010/main" val="13435545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979</Words>
  <Application>Microsoft Office PowerPoint</Application>
  <PresentationFormat>On-screen Show (4:3)</PresentationFormat>
  <Paragraphs>230</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MapReduce</vt:lpstr>
      <vt:lpstr>How MapReduce Works? - Classic MapReduce</vt:lpstr>
      <vt:lpstr>PowerPoint Presentation</vt:lpstr>
      <vt:lpstr>YARN - Yet Another Resource Negotiator</vt:lpstr>
      <vt:lpstr>PowerPoint Presentation</vt:lpstr>
      <vt:lpstr>MapReduce on YARN involves more entities than classic MapReduce. They are:</vt:lpstr>
      <vt:lpstr>PowerPoint Presentation</vt:lpstr>
      <vt:lpstr>The map and reduce functions</vt:lpstr>
      <vt:lpstr>PowerPoint Presentation</vt:lpstr>
      <vt:lpstr>PowerPoint Presentation</vt:lpstr>
      <vt:lpstr>MapReduce Data Flow </vt:lpstr>
      <vt:lpstr>PowerPoint Presentation</vt:lpstr>
      <vt:lpstr>RecordReader</vt:lpstr>
      <vt:lpstr>Driver</vt:lpstr>
      <vt:lpstr>PowerPoint Presentation</vt:lpstr>
      <vt:lpstr>Mapper</vt:lpstr>
      <vt:lpstr>Sample</vt:lpstr>
      <vt:lpstr>Reducer</vt:lpstr>
      <vt:lpstr>Sample</vt:lpstr>
      <vt:lpstr>Word counting using MapReduce - Hello,World program for MapReduce</vt:lpstr>
      <vt:lpstr>DATA FLOW</vt:lpstr>
      <vt:lpstr>PowerPoint Presentation</vt:lpstr>
      <vt:lpstr>Map o/p</vt:lpstr>
      <vt:lpstr>PowerPoint Presentation</vt:lpstr>
      <vt:lpstr>Reducer O/P</vt:lpstr>
      <vt:lpstr>PowerPoint Presentation</vt:lpstr>
      <vt:lpstr>LISTING AND KILLING JOBS: </vt:lpstr>
    </vt:vector>
  </TitlesOfParts>
  <Company>CSC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MapR</dc:title>
  <dc:creator>Islam Ahemad Khan</dc:creator>
  <cp:lastModifiedBy>Islam Ahemad Khan</cp:lastModifiedBy>
  <cp:revision>10</cp:revision>
  <dcterms:created xsi:type="dcterms:W3CDTF">2014-09-14T07:56:01Z</dcterms:created>
  <dcterms:modified xsi:type="dcterms:W3CDTF">2014-09-14T09:04:18Z</dcterms:modified>
</cp:coreProperties>
</file>