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87" r:id="rId2"/>
    <p:sldId id="290" r:id="rId3"/>
    <p:sldId id="291" r:id="rId4"/>
    <p:sldId id="283" r:id="rId5"/>
    <p:sldId id="286" r:id="rId6"/>
    <p:sldId id="257" r:id="rId7"/>
    <p:sldId id="258" r:id="rId8"/>
    <p:sldId id="296" r:id="rId9"/>
    <p:sldId id="297" r:id="rId10"/>
    <p:sldId id="259" r:id="rId11"/>
    <p:sldId id="293" r:id="rId12"/>
    <p:sldId id="295" r:id="rId13"/>
    <p:sldId id="262" r:id="rId14"/>
    <p:sldId id="264" r:id="rId15"/>
    <p:sldId id="298" r:id="rId16"/>
    <p:sldId id="279" r:id="rId17"/>
    <p:sldId id="280" r:id="rId18"/>
    <p:sldId id="265" r:id="rId19"/>
    <p:sldId id="266" r:id="rId20"/>
    <p:sldId id="271" r:id="rId21"/>
    <p:sldId id="272" r:id="rId22"/>
    <p:sldId id="273" r:id="rId23"/>
    <p:sldId id="274" r:id="rId24"/>
    <p:sldId id="275" r:id="rId25"/>
    <p:sldId id="276" r:id="rId26"/>
    <p:sldId id="299" r:id="rId27"/>
    <p:sldId id="288" r:id="rId28"/>
    <p:sldId id="289"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2544" y="8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7ECD2F-C130-427C-AD9B-610A14B3B58A}" type="datetime5">
              <a:rPr lang="en-US" smtClean="0"/>
              <a:t>15-Aug-16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smtClean="0"/>
              <a:t>AXP Internal</a:t>
            </a: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7F55828-C586-47E5-B2ED-7059A4D22FB5}" type="slidenum">
              <a:rPr lang="en-US" smtClean="0"/>
              <a:t>‹#›</a:t>
            </a:fld>
            <a:endParaRPr lang="en-US"/>
          </a:p>
        </p:txBody>
      </p:sp>
    </p:spTree>
    <p:extLst>
      <p:ext uri="{BB962C8B-B14F-4D97-AF65-F5344CB8AC3E}">
        <p14:creationId xmlns:p14="http://schemas.microsoft.com/office/powerpoint/2010/main" val="773554238"/>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475B5B-2F72-4BC6-8A61-9B628F40BADB}" type="datetime5">
              <a:rPr lang="en-US" smtClean="0"/>
              <a:t>15-Aug-16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smtClean="0"/>
              <a:t>AXP Internal</a:t>
            </a: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1C8615-4C0D-4CD6-8AAB-5273AD07A379}" type="slidenum">
              <a:rPr lang="en-US" smtClean="0"/>
              <a:t>‹#›</a:t>
            </a:fld>
            <a:endParaRPr lang="en-US"/>
          </a:p>
        </p:txBody>
      </p:sp>
    </p:spTree>
    <p:extLst>
      <p:ext uri="{BB962C8B-B14F-4D97-AF65-F5344CB8AC3E}">
        <p14:creationId xmlns:p14="http://schemas.microsoft.com/office/powerpoint/2010/main" val="119177520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7906439-F454-4022-B79B-9B7FBADAC060}" type="datetimeFigureOut">
              <a:rPr lang="en-US" smtClean="0"/>
              <a:t>8/15/2016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902826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906439-F454-4022-B79B-9B7FBADAC060}" type="datetimeFigureOut">
              <a:rPr lang="en-US" smtClean="0"/>
              <a:t>8/15/2016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2262223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7906439-F454-4022-B79B-9B7FBADAC060}" type="datetimeFigureOut">
              <a:rPr lang="en-US" smtClean="0"/>
              <a:t>8/15/2016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1193452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7906439-F454-4022-B79B-9B7FBADAC060}" type="datetimeFigureOut">
              <a:rPr lang="en-US" smtClean="0"/>
              <a:t>8/15/2016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2324602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7906439-F454-4022-B79B-9B7FBADAC060}" type="datetimeFigureOut">
              <a:rPr lang="en-US" smtClean="0"/>
              <a:t>8/15/2016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2726284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7906439-F454-4022-B79B-9B7FBADAC060}" type="datetimeFigureOut">
              <a:rPr lang="en-US" smtClean="0"/>
              <a:t>8/15/2016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3280376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906439-F454-4022-B79B-9B7FBADAC060}" type="datetimeFigureOut">
              <a:rPr lang="en-US" smtClean="0"/>
              <a:t>8/15/2016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427342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7906439-F454-4022-B79B-9B7FBADAC060}" type="datetimeFigureOut">
              <a:rPr lang="en-US" smtClean="0"/>
              <a:t>8/15/2016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518038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7906439-F454-4022-B79B-9B7FBADAC060}" type="datetimeFigureOut">
              <a:rPr lang="en-US" smtClean="0"/>
              <a:t>8/15/2016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1686724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906439-F454-4022-B79B-9B7FBADAC060}" type="datetimeFigureOut">
              <a:rPr lang="en-US" smtClean="0"/>
              <a:t>8/15/2016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1930593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906439-F454-4022-B79B-9B7FBADAC060}" type="datetimeFigureOut">
              <a:rPr lang="en-US" smtClean="0"/>
              <a:t>8/15/2016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221541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7CD8D0-3C67-470E-A125-7358AE21B10D}" type="datetime5">
              <a:rPr lang="en-US" smtClean="0"/>
              <a:t>15-Aug-16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AXP Internal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00B02B-286B-4C88-AC97-658498CB3C15}" type="slidenum">
              <a:rPr lang="en-US" smtClean="0"/>
              <a:t>‹#›</a:t>
            </a:fld>
            <a:endParaRPr lang="en-US"/>
          </a:p>
        </p:txBody>
      </p:sp>
    </p:spTree>
    <p:extLst>
      <p:ext uri="{BB962C8B-B14F-4D97-AF65-F5344CB8AC3E}">
        <p14:creationId xmlns:p14="http://schemas.microsoft.com/office/powerpoint/2010/main" val="3595235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1129229" y="1143000"/>
            <a:ext cx="6858000" cy="3068637"/>
          </a:xfrm>
        </p:spPr>
        <p:txBody>
          <a:bodyPr rtlCol="0">
            <a:normAutofit/>
          </a:bodyPr>
          <a:lstStyle/>
          <a:p>
            <a:pPr eaLnBrk="1" fontAlgn="auto" hangingPunct="1">
              <a:spcAft>
                <a:spcPts val="0"/>
              </a:spcAft>
              <a:defRPr/>
            </a:pPr>
            <a:r>
              <a:rPr lang="en-US" altLang="en-US" dirty="0" smtClean="0">
                <a:solidFill>
                  <a:schemeClr val="tx1">
                    <a:lumMod val="95000"/>
                    <a:lumOff val="5000"/>
                  </a:schemeClr>
                </a:solidFill>
              </a:rPr>
              <a:t/>
            </a:r>
            <a:br>
              <a:rPr lang="en-US" altLang="en-US" dirty="0" smtClean="0">
                <a:solidFill>
                  <a:schemeClr val="tx1">
                    <a:lumMod val="95000"/>
                    <a:lumOff val="5000"/>
                  </a:schemeClr>
                </a:solidFill>
              </a:rPr>
            </a:br>
            <a:r>
              <a:rPr lang="en-US" altLang="en-US" dirty="0" smtClean="0">
                <a:solidFill>
                  <a:schemeClr val="tx1">
                    <a:lumMod val="95000"/>
                    <a:lumOff val="5000"/>
                  </a:schemeClr>
                </a:solidFill>
              </a:rPr>
              <a:t>MapReduce</a:t>
            </a:r>
          </a:p>
        </p:txBody>
      </p:sp>
      <p:sp>
        <p:nvSpPr>
          <p:cNvPr id="15363" name="Subtitle 2"/>
          <p:cNvSpPr>
            <a:spLocks noGrp="1"/>
          </p:cNvSpPr>
          <p:nvPr>
            <p:ph type="subTitle" idx="1"/>
          </p:nvPr>
        </p:nvSpPr>
        <p:spPr>
          <a:xfrm>
            <a:off x="1295400" y="3886200"/>
            <a:ext cx="6858000" cy="1295400"/>
          </a:xfrm>
        </p:spPr>
        <p:txBody>
          <a:bodyPr>
            <a:noAutofit/>
          </a:bodyPr>
          <a:lstStyle/>
          <a:p>
            <a:pPr eaLnBrk="1" hangingPunct="1"/>
            <a:r>
              <a:rPr lang="en-US" altLang="en-US" sz="2000" dirty="0" smtClean="0"/>
              <a:t>Mohd Hasnain - MCHD - </a:t>
            </a:r>
            <a:r>
              <a:rPr lang="en-US" altLang="en-US" sz="2000" dirty="0" err="1" smtClean="0"/>
              <a:t>MapR</a:t>
            </a:r>
            <a:r>
              <a:rPr lang="en-US" altLang="en-US" sz="2000" dirty="0" smtClean="0"/>
              <a:t> Certified Hadoop Developer </a:t>
            </a:r>
          </a:p>
          <a:p>
            <a:pPr eaLnBrk="1" hangingPunct="1">
              <a:buFont typeface="Wingdings 2" panose="05020102010507070707" pitchFamily="18" charset="2"/>
              <a:buNone/>
            </a:pPr>
            <a:r>
              <a:rPr lang="en-US" altLang="en-US" sz="2000" dirty="0" smtClean="0"/>
              <a:t>(550574 | Mobile: +91 987 173 4819 )</a:t>
            </a:r>
          </a:p>
        </p:txBody>
      </p:sp>
      <p:sp>
        <p:nvSpPr>
          <p:cNvPr id="13316" name="Date Placeholder 3"/>
          <p:cNvSpPr>
            <a:spLocks noGrp="1"/>
          </p:cNvSpPr>
          <p:nvPr>
            <p:ph type="dt" sz="quarter" idx="10"/>
          </p:nvPr>
        </p:nvSpPr>
        <p:spPr bwMode="auto">
          <a:ln>
            <a:miter lim="800000"/>
            <a:headEnd/>
            <a:tailEnd/>
          </a:ln>
        </p:spPr>
        <p:txBody>
          <a:bodyPr wrap="square" numCol="1" anchor="t" anchorCtr="0" compatLnSpc="1">
            <a:prstTxWarp prst="textNoShape">
              <a:avLst/>
            </a:prstTxWarp>
          </a:bodyPr>
          <a:lstStyle/>
          <a:p>
            <a:pPr>
              <a:defRPr/>
            </a:pPr>
            <a:fld id="{24BCBCC4-D76E-48E8-ACEC-E775FA5F62BB}" type="datetime5">
              <a:rPr lang="en-US" smtClean="0"/>
              <a:t>15-Aug-16</a:t>
            </a:fld>
            <a:endParaRPr lang="en-US" dirty="0"/>
          </a:p>
        </p:txBody>
      </p:sp>
      <p:sp>
        <p:nvSpPr>
          <p:cNvPr id="15365"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ADDCCA3-FC9B-4A76-B5B4-71CA3D94F457}" type="slidenum">
              <a:rPr lang="en-US" altLang="en-US" sz="1200" smtClean="0">
                <a:solidFill>
                  <a:srgbClr val="898989"/>
                </a:solidFill>
              </a:rPr>
              <a:pPr/>
              <a:t>1</a:t>
            </a:fld>
            <a:endParaRPr lang="en-US" altLang="en-US" sz="1200" smtClean="0">
              <a:solidFill>
                <a:srgbClr val="898989"/>
              </a:solidFill>
            </a:endParaRPr>
          </a:p>
        </p:txBody>
      </p:sp>
      <p:pic>
        <p:nvPicPr>
          <p:cNvPr id="15366" name="Picture 2" descr="hadoop-elephant_logo.png (2483×887)"/>
          <p:cNvPicPr>
            <a:picLocks noChangeAspect="1" noChangeArrowheads="1"/>
          </p:cNvPicPr>
          <p:nvPr/>
        </p:nvPicPr>
        <p:blipFill>
          <a:blip r:embed="rId2">
            <a:extLst>
              <a:ext uri="{28A0092B-C50C-407E-A947-70E740481C1C}">
                <a14:useLocalDpi xmlns:a14="http://schemas.microsoft.com/office/drawing/2010/main" val="0"/>
              </a:ext>
            </a:extLst>
          </a:blip>
          <a:srcRect l="5147" t="18980" r="7353" b="21535"/>
          <a:stretch>
            <a:fillRect/>
          </a:stretch>
        </p:blipFill>
        <p:spPr bwMode="auto">
          <a:xfrm>
            <a:off x="1981200" y="379413"/>
            <a:ext cx="4800600" cy="243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US" smtClean="0"/>
              <a:t>AXP Internal</a:t>
            </a:r>
            <a:endParaRPr lang="en-US"/>
          </a:p>
        </p:txBody>
      </p:sp>
    </p:spTree>
    <p:extLst>
      <p:ext uri="{BB962C8B-B14F-4D97-AF65-F5344CB8AC3E}">
        <p14:creationId xmlns:p14="http://schemas.microsoft.com/office/powerpoint/2010/main" val="3145216343"/>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Google WP - </a:t>
            </a:r>
            <a:r>
              <a:rPr lang="en-US" sz="1600" dirty="0"/>
              <a:t>Jeffrey Dean and Sanjay </a:t>
            </a:r>
            <a:r>
              <a:rPr lang="en-US" sz="1600" dirty="0" err="1"/>
              <a:t>Ghemawat</a:t>
            </a:r>
            <a:endParaRPr lang="en-US" sz="1600" dirty="0"/>
          </a:p>
        </p:txBody>
      </p:sp>
      <p:sp>
        <p:nvSpPr>
          <p:cNvPr id="3" name="Content Placeholder 2"/>
          <p:cNvSpPr>
            <a:spLocks noGrp="1"/>
          </p:cNvSpPr>
          <p:nvPr>
            <p:ph idx="1"/>
          </p:nvPr>
        </p:nvSpPr>
        <p:spPr/>
        <p:txBody>
          <a:bodyPr>
            <a:normAutofit/>
          </a:bodyPr>
          <a:lstStyle/>
          <a:p>
            <a:pPr marL="0" indent="0">
              <a:buNone/>
            </a:pPr>
            <a:r>
              <a:rPr lang="en-US" sz="1800" dirty="0">
                <a:latin typeface="Courier New" panose="02070309020205020404" pitchFamily="49" charset="0"/>
                <a:cs typeface="Courier New" panose="02070309020205020404" pitchFamily="49" charset="0"/>
              </a:rPr>
              <a:t>map(String key, String value):</a:t>
            </a:r>
          </a:p>
          <a:p>
            <a:pPr marL="0" indent="0">
              <a:buNone/>
            </a:pPr>
            <a:r>
              <a:rPr lang="en-US" sz="1800" dirty="0">
                <a:latin typeface="Courier New" panose="02070309020205020404" pitchFamily="49" charset="0"/>
                <a:cs typeface="Courier New" panose="02070309020205020404" pitchFamily="49" charset="0"/>
              </a:rPr>
              <a:t>// key: document name</a:t>
            </a:r>
          </a:p>
          <a:p>
            <a:pPr marL="0" indent="0">
              <a:buNone/>
            </a:pPr>
            <a:r>
              <a:rPr lang="en-US" sz="1800" dirty="0">
                <a:latin typeface="Courier New" panose="02070309020205020404" pitchFamily="49" charset="0"/>
                <a:cs typeface="Courier New" panose="02070309020205020404" pitchFamily="49" charset="0"/>
              </a:rPr>
              <a:t>// value: document contents</a:t>
            </a:r>
          </a:p>
          <a:p>
            <a:pPr marL="0" indent="0">
              <a:buNone/>
            </a:pPr>
            <a:r>
              <a:rPr lang="en-US" sz="1800" dirty="0">
                <a:latin typeface="Courier New" panose="02070309020205020404" pitchFamily="49" charset="0"/>
                <a:cs typeface="Courier New" panose="02070309020205020404" pitchFamily="49" charset="0"/>
              </a:rPr>
              <a:t>for each word w in value:</a:t>
            </a:r>
          </a:p>
          <a:p>
            <a:pPr marL="0" indent="0">
              <a:buNone/>
            </a:pPr>
            <a:r>
              <a:rPr lang="en-US" sz="1800" dirty="0" err="1">
                <a:latin typeface="Courier New" panose="02070309020205020404" pitchFamily="49" charset="0"/>
                <a:cs typeface="Courier New" panose="02070309020205020404" pitchFamily="49" charset="0"/>
              </a:rPr>
              <a:t>EmitIntermediate</a:t>
            </a:r>
            <a:r>
              <a:rPr lang="en-US" sz="1800" dirty="0">
                <a:latin typeface="Courier New" panose="02070309020205020404" pitchFamily="49" charset="0"/>
                <a:cs typeface="Courier New" panose="02070309020205020404" pitchFamily="49" charset="0"/>
              </a:rPr>
              <a:t>(w, "1</a:t>
            </a:r>
            <a:r>
              <a:rPr lang="en-US" sz="1800" dirty="0" smtClean="0">
                <a:latin typeface="Courier New" panose="02070309020205020404" pitchFamily="49" charset="0"/>
                <a:cs typeface="Courier New" panose="02070309020205020404" pitchFamily="49" charset="0"/>
              </a:rPr>
              <a:t>");</a:t>
            </a:r>
          </a:p>
          <a:p>
            <a:pPr marL="0" indent="0">
              <a:buNone/>
            </a:pPr>
            <a:endParaRPr lang="en-US" sz="1800" dirty="0">
              <a:latin typeface="Courier New" panose="02070309020205020404" pitchFamily="49" charset="0"/>
              <a:cs typeface="Courier New" panose="02070309020205020404" pitchFamily="49" charset="0"/>
            </a:endParaRPr>
          </a:p>
          <a:p>
            <a:pPr marL="0" indent="0">
              <a:buNone/>
            </a:pPr>
            <a:r>
              <a:rPr lang="en-US" sz="1800" dirty="0">
                <a:latin typeface="Courier New" panose="02070309020205020404" pitchFamily="49" charset="0"/>
                <a:cs typeface="Courier New" panose="02070309020205020404" pitchFamily="49" charset="0"/>
              </a:rPr>
              <a:t>reduce(String key, Iterator values):</a:t>
            </a:r>
          </a:p>
          <a:p>
            <a:pPr marL="0" indent="0">
              <a:buNone/>
            </a:pPr>
            <a:r>
              <a:rPr lang="en-US" sz="1800" dirty="0">
                <a:latin typeface="Courier New" panose="02070309020205020404" pitchFamily="49" charset="0"/>
                <a:cs typeface="Courier New" panose="02070309020205020404" pitchFamily="49" charset="0"/>
              </a:rPr>
              <a:t>// key: a word</a:t>
            </a:r>
          </a:p>
          <a:p>
            <a:pPr marL="0" indent="0">
              <a:buNone/>
            </a:pPr>
            <a:r>
              <a:rPr lang="en-US" sz="1800" dirty="0">
                <a:latin typeface="Courier New" panose="02070309020205020404" pitchFamily="49" charset="0"/>
                <a:cs typeface="Courier New" panose="02070309020205020404" pitchFamily="49" charset="0"/>
              </a:rPr>
              <a:t>// values: a list of counts</a:t>
            </a:r>
          </a:p>
          <a:p>
            <a:pPr marL="0" indent="0">
              <a:buNone/>
            </a:pPr>
            <a:r>
              <a:rPr lang="en-US" sz="1800" dirty="0" err="1">
                <a:latin typeface="Courier New" panose="02070309020205020404" pitchFamily="49" charset="0"/>
                <a:cs typeface="Courier New" panose="02070309020205020404" pitchFamily="49" charset="0"/>
              </a:rPr>
              <a:t>int</a:t>
            </a:r>
            <a:r>
              <a:rPr lang="en-US" sz="1800" dirty="0">
                <a:latin typeface="Courier New" panose="02070309020205020404" pitchFamily="49" charset="0"/>
                <a:cs typeface="Courier New" panose="02070309020205020404" pitchFamily="49" charset="0"/>
              </a:rPr>
              <a:t> result = 0;</a:t>
            </a:r>
          </a:p>
          <a:p>
            <a:pPr marL="0" indent="0">
              <a:buNone/>
            </a:pPr>
            <a:r>
              <a:rPr lang="en-US" sz="1800" dirty="0">
                <a:latin typeface="Courier New" panose="02070309020205020404" pitchFamily="49" charset="0"/>
                <a:cs typeface="Courier New" panose="02070309020205020404" pitchFamily="49" charset="0"/>
              </a:rPr>
              <a:t>for each v in values:</a:t>
            </a:r>
          </a:p>
          <a:p>
            <a:pPr marL="0" indent="0">
              <a:buNone/>
            </a:pPr>
            <a:r>
              <a:rPr lang="en-US" sz="1800" dirty="0">
                <a:latin typeface="Courier New" panose="02070309020205020404" pitchFamily="49" charset="0"/>
                <a:cs typeface="Courier New" panose="02070309020205020404" pitchFamily="49" charset="0"/>
              </a:rPr>
              <a:t>result += </a:t>
            </a:r>
            <a:r>
              <a:rPr lang="en-US" sz="1800" dirty="0" err="1">
                <a:latin typeface="Courier New" panose="02070309020205020404" pitchFamily="49" charset="0"/>
                <a:cs typeface="Courier New" panose="02070309020205020404" pitchFamily="49" charset="0"/>
              </a:rPr>
              <a:t>ParseInt</a:t>
            </a:r>
            <a:r>
              <a:rPr lang="en-US" sz="1800" dirty="0">
                <a:latin typeface="Courier New" panose="02070309020205020404" pitchFamily="49" charset="0"/>
                <a:cs typeface="Courier New" panose="02070309020205020404" pitchFamily="49" charset="0"/>
              </a:rPr>
              <a:t>(v);</a:t>
            </a:r>
          </a:p>
          <a:p>
            <a:pPr marL="0" indent="0">
              <a:buNone/>
            </a:pPr>
            <a:r>
              <a:rPr lang="en-US" sz="1800" dirty="0">
                <a:latin typeface="Courier New" panose="02070309020205020404" pitchFamily="49" charset="0"/>
                <a:cs typeface="Courier New" panose="02070309020205020404" pitchFamily="49" charset="0"/>
              </a:rPr>
              <a:t>Emit(</a:t>
            </a:r>
            <a:r>
              <a:rPr lang="en-US" sz="1800" dirty="0" err="1">
                <a:latin typeface="Courier New" panose="02070309020205020404" pitchFamily="49" charset="0"/>
                <a:cs typeface="Courier New" panose="02070309020205020404" pitchFamily="49" charset="0"/>
              </a:rPr>
              <a:t>AsString</a:t>
            </a:r>
            <a:r>
              <a:rPr lang="en-US" sz="1800" dirty="0">
                <a:latin typeface="Courier New" panose="02070309020205020404" pitchFamily="49" charset="0"/>
                <a:cs typeface="Courier New" panose="02070309020205020404" pitchFamily="49" charset="0"/>
              </a:rPr>
              <a:t>(result));</a:t>
            </a:r>
          </a:p>
        </p:txBody>
      </p:sp>
      <p:sp>
        <p:nvSpPr>
          <p:cNvPr id="4" name="Date Placeholder 3"/>
          <p:cNvSpPr>
            <a:spLocks noGrp="1"/>
          </p:cNvSpPr>
          <p:nvPr>
            <p:ph type="dt" sz="half" idx="10"/>
          </p:nvPr>
        </p:nvSpPr>
        <p:spPr/>
        <p:txBody>
          <a:bodyPr/>
          <a:lstStyle/>
          <a:p>
            <a:fld id="{EA01A4C9-E620-4F0B-8389-43BA7737395F}" type="datetime5">
              <a:rPr lang="en-US" smtClean="0"/>
              <a:t>15-Aug-16</a:t>
            </a:fld>
            <a:endParaRPr lang="en-US"/>
          </a:p>
        </p:txBody>
      </p:sp>
      <p:sp>
        <p:nvSpPr>
          <p:cNvPr id="5" name="Footer Placeholder 4"/>
          <p:cNvSpPr>
            <a:spLocks noGrp="1"/>
          </p:cNvSpPr>
          <p:nvPr>
            <p:ph type="ftr" sz="quarter" idx="11"/>
          </p:nvPr>
        </p:nvSpPr>
        <p:spPr/>
        <p:txBody>
          <a:bodyPr/>
          <a:lstStyle/>
          <a:p>
            <a:r>
              <a:rPr lang="en-US" smtClean="0"/>
              <a:t>AXP Internal</a:t>
            </a:r>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2</a:t>
            </a:fld>
            <a:endParaRPr lang="en-US"/>
          </a:p>
        </p:txBody>
      </p:sp>
    </p:spTree>
    <p:extLst>
      <p:ext uri="{BB962C8B-B14F-4D97-AF65-F5344CB8AC3E}">
        <p14:creationId xmlns:p14="http://schemas.microsoft.com/office/powerpoint/2010/main" val="1587905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FLOW</a:t>
            </a:r>
            <a:endParaRPr lang="en-US" dirty="0"/>
          </a:p>
        </p:txBody>
      </p:sp>
      <p:pic>
        <p:nvPicPr>
          <p:cNvPr id="4" name="Picture 3" descr="MapReduceWordCountOverview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306513"/>
            <a:ext cx="9144000" cy="424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r>
              <a:rPr lang="en-US" smtClean="0"/>
              <a:t>AXP Internal</a:t>
            </a:r>
            <a:endParaRPr lang="en-US"/>
          </a:p>
        </p:txBody>
      </p:sp>
      <p:sp>
        <p:nvSpPr>
          <p:cNvPr id="5" name="Date Placeholder 4"/>
          <p:cNvSpPr>
            <a:spLocks noGrp="1"/>
          </p:cNvSpPr>
          <p:nvPr>
            <p:ph type="dt" sz="half" idx="10"/>
          </p:nvPr>
        </p:nvSpPr>
        <p:spPr/>
        <p:txBody>
          <a:bodyPr/>
          <a:lstStyle/>
          <a:p>
            <a:fld id="{AD329BC9-293D-4CA6-BFE4-05C0C6908F63}" type="datetime5">
              <a:rPr lang="en-US" smtClean="0"/>
              <a:t>15-Aug-16</a:t>
            </a:fld>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3</a:t>
            </a:fld>
            <a:endParaRPr lang="en-US"/>
          </a:p>
        </p:txBody>
      </p:sp>
    </p:spTree>
    <p:extLst>
      <p:ext uri="{BB962C8B-B14F-4D97-AF65-F5344CB8AC3E}">
        <p14:creationId xmlns:p14="http://schemas.microsoft.com/office/powerpoint/2010/main" val="18499067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dirty="0" err="1" smtClean="0">
                <a:solidFill>
                  <a:schemeClr val="tx1">
                    <a:lumMod val="95000"/>
                    <a:lumOff val="5000"/>
                  </a:schemeClr>
                </a:solidFill>
              </a:rPr>
              <a:t>MapR</a:t>
            </a:r>
            <a:r>
              <a:rPr lang="en-US" dirty="0" smtClean="0">
                <a:solidFill>
                  <a:schemeClr val="tx1">
                    <a:lumMod val="95000"/>
                    <a:lumOff val="5000"/>
                  </a:schemeClr>
                </a:solidFill>
              </a:rPr>
              <a:t> Process</a:t>
            </a:r>
            <a:endParaRPr lang="en-US" dirty="0">
              <a:solidFill>
                <a:schemeClr val="tx1">
                  <a:lumMod val="95000"/>
                  <a:lumOff val="5000"/>
                </a:schemeClr>
              </a:solidFill>
            </a:endParaRPr>
          </a:p>
        </p:txBody>
      </p:sp>
      <p:sp>
        <p:nvSpPr>
          <p:cNvPr id="4" name="Date Placeholder 3"/>
          <p:cNvSpPr>
            <a:spLocks noGrp="1"/>
          </p:cNvSpPr>
          <p:nvPr>
            <p:ph type="dt" sz="quarter" idx="10"/>
          </p:nvPr>
        </p:nvSpPr>
        <p:spPr/>
        <p:txBody>
          <a:bodyPr/>
          <a:lstStyle/>
          <a:p>
            <a:pPr>
              <a:defRPr/>
            </a:pPr>
            <a:fld id="{D2DD35B3-83B5-4A57-9214-EAFFAD2F1D93}" type="datetime5">
              <a:rPr lang="en-US" smtClean="0"/>
              <a:t>15-Aug-16</a:t>
            </a:fld>
            <a:endParaRPr lang="en-US"/>
          </a:p>
        </p:txBody>
      </p:sp>
      <p:sp>
        <p:nvSpPr>
          <p:cNvPr id="5" name="Slide Number Placeholder 4"/>
          <p:cNvSpPr>
            <a:spLocks noGrp="1"/>
          </p:cNvSpPr>
          <p:nvPr>
            <p:ph type="sldNum" sz="quarter" idx="12"/>
          </p:nvPr>
        </p:nvSpPr>
        <p:spPr/>
        <p:txBody>
          <a:bodyPr/>
          <a:lstStyle/>
          <a:p>
            <a:pPr>
              <a:defRPr/>
            </a:pPr>
            <a:fld id="{53191AC6-24FA-46B4-9691-61A20CA8E513}" type="slidenum">
              <a:rPr lang="en-US" altLang="en-US"/>
              <a:pPr>
                <a:defRPr/>
              </a:pPr>
              <a:t>4</a:t>
            </a:fld>
            <a:endParaRPr lang="en-US" alt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828800"/>
            <a:ext cx="6334125"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en-US" smtClean="0"/>
              <a:t>AXP Internal</a:t>
            </a:r>
            <a:endParaRPr lang="en-US"/>
          </a:p>
        </p:txBody>
      </p:sp>
    </p:spTree>
    <p:extLst>
      <p:ext uri="{BB962C8B-B14F-4D97-AF65-F5344CB8AC3E}">
        <p14:creationId xmlns:p14="http://schemas.microsoft.com/office/powerpoint/2010/main" val="3323916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quarter" idx="10"/>
          </p:nvPr>
        </p:nvSpPr>
        <p:spPr/>
        <p:txBody>
          <a:bodyPr/>
          <a:lstStyle/>
          <a:p>
            <a:pPr>
              <a:defRPr/>
            </a:pPr>
            <a:fld id="{65CCCBA0-BCE5-4DED-9957-64BB8A047097}" type="datetime5">
              <a:rPr lang="en-US" smtClean="0"/>
              <a:t>15-Aug-16</a:t>
            </a:fld>
            <a:endParaRPr lang="en-US"/>
          </a:p>
        </p:txBody>
      </p:sp>
      <p:sp>
        <p:nvSpPr>
          <p:cNvPr id="4" name="Slide Number Placeholder 3"/>
          <p:cNvSpPr>
            <a:spLocks noGrp="1"/>
          </p:cNvSpPr>
          <p:nvPr>
            <p:ph type="sldNum" sz="quarter" idx="12"/>
          </p:nvPr>
        </p:nvSpPr>
        <p:spPr/>
        <p:txBody>
          <a:bodyPr/>
          <a:lstStyle/>
          <a:p>
            <a:pPr>
              <a:defRPr/>
            </a:pPr>
            <a:fld id="{17DC8B86-6759-4D7D-9C6D-150960B3358D}" type="slidenum">
              <a:rPr lang="en-US" altLang="en-US" smtClean="0"/>
              <a:pPr>
                <a:defRPr/>
              </a:pPr>
              <a:t>5</a:t>
            </a:fld>
            <a:endParaRPr lang="en-US" altLang="en-US"/>
          </a:p>
        </p:txBody>
      </p:sp>
      <p:pic>
        <p:nvPicPr>
          <p:cNvPr id="19460"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00225" y="1217613"/>
            <a:ext cx="554355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1525" y="3962400"/>
            <a:ext cx="76009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US" smtClean="0"/>
              <a:t>AXP Internal</a:t>
            </a:r>
            <a:endParaRPr lang="en-US"/>
          </a:p>
        </p:txBody>
      </p:sp>
    </p:spTree>
    <p:extLst>
      <p:ext uri="{BB962C8B-B14F-4D97-AF65-F5344CB8AC3E}">
        <p14:creationId xmlns:p14="http://schemas.microsoft.com/office/powerpoint/2010/main" val="2045037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2800" dirty="0"/>
              <a:t>How </a:t>
            </a:r>
            <a:r>
              <a:rPr lang="en-US" sz="2800" dirty="0" err="1"/>
              <a:t>MapReduce</a:t>
            </a:r>
            <a:r>
              <a:rPr lang="en-US" sz="2800" dirty="0"/>
              <a:t> </a:t>
            </a:r>
            <a:r>
              <a:rPr lang="en-US" sz="2800" dirty="0" smtClean="0"/>
              <a:t>Works? - </a:t>
            </a:r>
            <a:r>
              <a:rPr lang="en-US" sz="2800" dirty="0"/>
              <a:t>Classic </a:t>
            </a:r>
            <a:r>
              <a:rPr lang="en-US" sz="2800" dirty="0" err="1"/>
              <a:t>MapReduce</a:t>
            </a:r>
            <a:endParaRPr lang="en-US" sz="2800" dirty="0"/>
          </a:p>
        </p:txBody>
      </p:sp>
      <p:sp>
        <p:nvSpPr>
          <p:cNvPr id="3" name="Content Placeholder 2"/>
          <p:cNvSpPr>
            <a:spLocks noGrp="1"/>
          </p:cNvSpPr>
          <p:nvPr>
            <p:ph idx="1"/>
          </p:nvPr>
        </p:nvSpPr>
        <p:spPr>
          <a:xfrm>
            <a:off x="457200" y="1447800"/>
            <a:ext cx="8229600" cy="4678363"/>
          </a:xfrm>
        </p:spPr>
        <p:txBody>
          <a:bodyPr>
            <a:noAutofit/>
          </a:bodyPr>
          <a:lstStyle/>
          <a:p>
            <a:pPr marL="0" indent="0">
              <a:buNone/>
            </a:pPr>
            <a:r>
              <a:rPr lang="en-US" sz="2800" dirty="0"/>
              <a:t>4</a:t>
            </a:r>
            <a:r>
              <a:rPr lang="en-US" sz="2800" dirty="0" smtClean="0"/>
              <a:t> </a:t>
            </a:r>
            <a:r>
              <a:rPr lang="en-US" sz="2800" dirty="0"/>
              <a:t>independent </a:t>
            </a:r>
            <a:r>
              <a:rPr lang="en-US" sz="2800" dirty="0" smtClean="0"/>
              <a:t>entities:</a:t>
            </a:r>
          </a:p>
          <a:p>
            <a:pPr lvl="1"/>
            <a:r>
              <a:rPr lang="en-US" sz="2400" dirty="0"/>
              <a:t>C</a:t>
            </a:r>
            <a:r>
              <a:rPr lang="en-US" sz="2400" dirty="0" smtClean="0"/>
              <a:t>lient</a:t>
            </a:r>
          </a:p>
          <a:p>
            <a:pPr lvl="1"/>
            <a:r>
              <a:rPr lang="en-US" sz="2400" dirty="0" err="1" smtClean="0"/>
              <a:t>JobTracker</a:t>
            </a:r>
            <a:endParaRPr lang="en-US" sz="2400" dirty="0" smtClean="0"/>
          </a:p>
          <a:p>
            <a:pPr lvl="1"/>
            <a:r>
              <a:rPr lang="en-US" sz="2400" dirty="0" err="1" smtClean="0"/>
              <a:t>TaskTracker</a:t>
            </a:r>
            <a:r>
              <a:rPr lang="en-US" sz="2400" dirty="0" smtClean="0"/>
              <a:t> – fixed no of slots for map/reduce</a:t>
            </a:r>
          </a:p>
          <a:p>
            <a:pPr lvl="1"/>
            <a:r>
              <a:rPr lang="en-US" sz="2400" dirty="0" smtClean="0"/>
              <a:t>HDFS</a:t>
            </a:r>
          </a:p>
          <a:p>
            <a:pPr marL="57150" indent="0">
              <a:buNone/>
            </a:pPr>
            <a:r>
              <a:rPr lang="en-US" dirty="0" smtClean="0"/>
              <a:t>Data/rack local – not for reduce task</a:t>
            </a:r>
          </a:p>
        </p:txBody>
      </p:sp>
      <p:sp>
        <p:nvSpPr>
          <p:cNvPr id="4" name="Footer Placeholder 3"/>
          <p:cNvSpPr>
            <a:spLocks noGrp="1"/>
          </p:cNvSpPr>
          <p:nvPr>
            <p:ph type="ftr" sz="quarter" idx="11"/>
          </p:nvPr>
        </p:nvSpPr>
        <p:spPr/>
        <p:txBody>
          <a:bodyPr/>
          <a:lstStyle/>
          <a:p>
            <a:r>
              <a:rPr lang="en-US" smtClean="0"/>
              <a:t>AXP Internal</a:t>
            </a:r>
            <a:endParaRPr lang="en-US"/>
          </a:p>
        </p:txBody>
      </p:sp>
      <p:sp>
        <p:nvSpPr>
          <p:cNvPr id="5" name="Date Placeholder 4"/>
          <p:cNvSpPr>
            <a:spLocks noGrp="1"/>
          </p:cNvSpPr>
          <p:nvPr>
            <p:ph type="dt" sz="half" idx="10"/>
          </p:nvPr>
        </p:nvSpPr>
        <p:spPr/>
        <p:txBody>
          <a:bodyPr/>
          <a:lstStyle/>
          <a:p>
            <a:fld id="{30D0CBC4-6C41-4FED-83BC-6803539D2C85}" type="datetime5">
              <a:rPr lang="en-US" smtClean="0"/>
              <a:t>15-Aug-16</a:t>
            </a:fld>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6</a:t>
            </a:fld>
            <a:endParaRPr lang="en-US"/>
          </a:p>
        </p:txBody>
      </p:sp>
    </p:spTree>
    <p:extLst>
      <p:ext uri="{BB962C8B-B14F-4D97-AF65-F5344CB8AC3E}">
        <p14:creationId xmlns:p14="http://schemas.microsoft.com/office/powerpoint/2010/main" val="1954804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9663" y="619125"/>
            <a:ext cx="6924675" cy="5619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1"/>
          </p:nvPr>
        </p:nvSpPr>
        <p:spPr/>
        <p:txBody>
          <a:bodyPr/>
          <a:lstStyle/>
          <a:p>
            <a:r>
              <a:rPr lang="en-US" smtClean="0"/>
              <a:t>AXP Internal</a:t>
            </a:r>
            <a:endParaRPr lang="en-US"/>
          </a:p>
        </p:txBody>
      </p:sp>
      <p:sp>
        <p:nvSpPr>
          <p:cNvPr id="3" name="Date Placeholder 2"/>
          <p:cNvSpPr>
            <a:spLocks noGrp="1"/>
          </p:cNvSpPr>
          <p:nvPr>
            <p:ph type="dt" sz="half" idx="10"/>
          </p:nvPr>
        </p:nvSpPr>
        <p:spPr/>
        <p:txBody>
          <a:bodyPr/>
          <a:lstStyle/>
          <a:p>
            <a:fld id="{EFF32006-8531-462F-A386-804CDE8E8B53}" type="datetime5">
              <a:rPr lang="en-US" smtClean="0"/>
              <a:t>15-Aug-16</a:t>
            </a:fld>
            <a:endParaRPr lang="en-US"/>
          </a:p>
        </p:txBody>
      </p:sp>
      <p:sp>
        <p:nvSpPr>
          <p:cNvPr id="4" name="Slide Number Placeholder 3"/>
          <p:cNvSpPr>
            <a:spLocks noGrp="1"/>
          </p:cNvSpPr>
          <p:nvPr>
            <p:ph type="sldNum" sz="quarter" idx="12"/>
          </p:nvPr>
        </p:nvSpPr>
        <p:spPr/>
        <p:txBody>
          <a:bodyPr/>
          <a:lstStyle/>
          <a:p>
            <a:fld id="{B500B02B-286B-4C88-AC97-658498CB3C15}" type="slidenum">
              <a:rPr lang="en-US" smtClean="0"/>
              <a:t>7</a:t>
            </a:fld>
            <a:endParaRPr lang="en-US"/>
          </a:p>
        </p:txBody>
      </p:sp>
    </p:spTree>
    <p:extLst>
      <p:ext uri="{BB962C8B-B14F-4D97-AF65-F5344CB8AC3E}">
        <p14:creationId xmlns:p14="http://schemas.microsoft.com/office/powerpoint/2010/main" val="35030052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Progress and Status Updates</a:t>
            </a:r>
          </a:p>
        </p:txBody>
      </p:sp>
      <p:sp>
        <p:nvSpPr>
          <p:cNvPr id="3" name="Content Placeholder 2"/>
          <p:cNvSpPr>
            <a:spLocks noGrp="1"/>
          </p:cNvSpPr>
          <p:nvPr>
            <p:ph idx="1"/>
          </p:nvPr>
        </p:nvSpPr>
        <p:spPr/>
        <p:txBody>
          <a:bodyPr>
            <a:normAutofit fontScale="92500" lnSpcReduction="20000"/>
          </a:bodyPr>
          <a:lstStyle/>
          <a:p>
            <a:r>
              <a:rPr lang="en-US" dirty="0"/>
              <a:t>M</a:t>
            </a:r>
            <a:r>
              <a:rPr lang="en-US" dirty="0" smtClean="0"/>
              <a:t>ap tasks </a:t>
            </a:r>
          </a:p>
          <a:p>
            <a:pPr lvl="1"/>
            <a:r>
              <a:rPr lang="en-US" dirty="0" smtClean="0"/>
              <a:t>This </a:t>
            </a:r>
            <a:r>
              <a:rPr lang="en-US" dirty="0"/>
              <a:t>is the proportion of the input that has been </a:t>
            </a:r>
            <a:r>
              <a:rPr lang="en-US" dirty="0" smtClean="0"/>
              <a:t>processed</a:t>
            </a:r>
          </a:p>
          <a:p>
            <a:r>
              <a:rPr lang="en-US" dirty="0" smtClean="0"/>
              <a:t>Reduce tasks </a:t>
            </a:r>
          </a:p>
          <a:p>
            <a:pPr lvl="1"/>
            <a:r>
              <a:rPr lang="en-US" dirty="0" smtClean="0"/>
              <a:t>1/3 for copy, sort, reduce</a:t>
            </a:r>
          </a:p>
          <a:p>
            <a:pPr lvl="1"/>
            <a:r>
              <a:rPr lang="en-US" dirty="0" smtClean="0"/>
              <a:t>task </a:t>
            </a:r>
            <a:r>
              <a:rPr lang="en-US" dirty="0"/>
              <a:t>has run the reducer on half its </a:t>
            </a:r>
            <a:r>
              <a:rPr lang="en-US" dirty="0" smtClean="0"/>
              <a:t>input</a:t>
            </a:r>
          </a:p>
          <a:p>
            <a:pPr lvl="1"/>
            <a:r>
              <a:rPr lang="en-US" dirty="0" smtClean="0"/>
              <a:t>= 2/3 + 1/3 = 83%</a:t>
            </a:r>
          </a:p>
          <a:p>
            <a:r>
              <a:rPr lang="en-US" dirty="0" smtClean="0"/>
              <a:t>Heartbeat every few seconds</a:t>
            </a:r>
          </a:p>
          <a:p>
            <a:r>
              <a:rPr lang="en-US" dirty="0" err="1" smtClean="0"/>
              <a:t>getStatus</a:t>
            </a:r>
            <a:r>
              <a:rPr lang="en-US" dirty="0" smtClean="0"/>
              <a:t>() by Clients</a:t>
            </a:r>
          </a:p>
          <a:p>
            <a:r>
              <a:rPr lang="en-US" dirty="0"/>
              <a:t>Speculative Execution</a:t>
            </a:r>
          </a:p>
        </p:txBody>
      </p:sp>
      <p:sp>
        <p:nvSpPr>
          <p:cNvPr id="4" name="Date Placeholder 3"/>
          <p:cNvSpPr>
            <a:spLocks noGrp="1"/>
          </p:cNvSpPr>
          <p:nvPr>
            <p:ph type="dt" sz="half" idx="10"/>
          </p:nvPr>
        </p:nvSpPr>
        <p:spPr/>
        <p:txBody>
          <a:bodyPr/>
          <a:lstStyle/>
          <a:p>
            <a:fld id="{AFFC9602-92B2-4D40-A61C-C5DBB742C908}" type="datetime5">
              <a:rPr lang="en-US" smtClean="0"/>
              <a:t>15-Aug-16</a:t>
            </a:fld>
            <a:endParaRPr lang="en-US"/>
          </a:p>
        </p:txBody>
      </p:sp>
      <p:sp>
        <p:nvSpPr>
          <p:cNvPr id="5" name="Footer Placeholder 4"/>
          <p:cNvSpPr>
            <a:spLocks noGrp="1"/>
          </p:cNvSpPr>
          <p:nvPr>
            <p:ph type="ftr" sz="quarter" idx="11"/>
          </p:nvPr>
        </p:nvSpPr>
        <p:spPr/>
        <p:txBody>
          <a:bodyPr/>
          <a:lstStyle/>
          <a:p>
            <a:r>
              <a:rPr lang="en-US" smtClean="0"/>
              <a:t>AXP Internal</a:t>
            </a:r>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8</a:t>
            </a:fld>
            <a:endParaRPr lang="en-US"/>
          </a:p>
        </p:txBody>
      </p:sp>
    </p:spTree>
    <p:extLst>
      <p:ext uri="{BB962C8B-B14F-4D97-AF65-F5344CB8AC3E}">
        <p14:creationId xmlns:p14="http://schemas.microsoft.com/office/powerpoint/2010/main" val="47674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75" y="619125"/>
            <a:ext cx="5810250" cy="5619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143000" y="4191000"/>
            <a:ext cx="2971800" cy="923330"/>
          </a:xfrm>
          <a:prstGeom prst="rect">
            <a:avLst/>
          </a:prstGeom>
        </p:spPr>
        <p:txBody>
          <a:bodyPr wrap="square">
            <a:spAutoFit/>
          </a:bodyPr>
          <a:lstStyle/>
          <a:p>
            <a:r>
              <a:rPr lang="en-US" i="1" dirty="0"/>
              <a:t>How status updates are propagated through the </a:t>
            </a:r>
            <a:r>
              <a:rPr lang="en-US" i="1" dirty="0" smtClean="0"/>
              <a:t>Classic </a:t>
            </a:r>
            <a:r>
              <a:rPr lang="en-US" i="1" dirty="0"/>
              <a:t>system</a:t>
            </a:r>
            <a:endParaRPr lang="en-US" dirty="0"/>
          </a:p>
        </p:txBody>
      </p:sp>
      <p:sp>
        <p:nvSpPr>
          <p:cNvPr id="2" name="Footer Placeholder 1"/>
          <p:cNvSpPr>
            <a:spLocks noGrp="1"/>
          </p:cNvSpPr>
          <p:nvPr>
            <p:ph type="ftr" sz="quarter" idx="11"/>
          </p:nvPr>
        </p:nvSpPr>
        <p:spPr/>
        <p:txBody>
          <a:bodyPr/>
          <a:lstStyle/>
          <a:p>
            <a:r>
              <a:rPr lang="en-US" smtClean="0"/>
              <a:t>AXP Internal</a:t>
            </a:r>
            <a:endParaRPr lang="en-US"/>
          </a:p>
        </p:txBody>
      </p:sp>
      <p:sp>
        <p:nvSpPr>
          <p:cNvPr id="3" name="Date Placeholder 2"/>
          <p:cNvSpPr>
            <a:spLocks noGrp="1"/>
          </p:cNvSpPr>
          <p:nvPr>
            <p:ph type="dt" sz="half" idx="10"/>
          </p:nvPr>
        </p:nvSpPr>
        <p:spPr/>
        <p:txBody>
          <a:bodyPr/>
          <a:lstStyle/>
          <a:p>
            <a:fld id="{B1036564-2FE9-477C-9231-F1FEAD8F2DE7}" type="datetime5">
              <a:rPr lang="en-US" smtClean="0"/>
              <a:t>15-Aug-16</a:t>
            </a:fld>
            <a:endParaRPr lang="en-US"/>
          </a:p>
        </p:txBody>
      </p:sp>
      <p:sp>
        <p:nvSpPr>
          <p:cNvPr id="5" name="Slide Number Placeholder 4"/>
          <p:cNvSpPr>
            <a:spLocks noGrp="1"/>
          </p:cNvSpPr>
          <p:nvPr>
            <p:ph type="sldNum" sz="quarter" idx="12"/>
          </p:nvPr>
        </p:nvSpPr>
        <p:spPr/>
        <p:txBody>
          <a:bodyPr/>
          <a:lstStyle/>
          <a:p>
            <a:fld id="{B500B02B-286B-4C88-AC97-658498CB3C15}" type="slidenum">
              <a:rPr lang="en-US" smtClean="0"/>
              <a:t>9</a:t>
            </a:fld>
            <a:endParaRPr lang="en-US"/>
          </a:p>
        </p:txBody>
      </p:sp>
    </p:spTree>
    <p:extLst>
      <p:ext uri="{BB962C8B-B14F-4D97-AF65-F5344CB8AC3E}">
        <p14:creationId xmlns:p14="http://schemas.microsoft.com/office/powerpoint/2010/main" val="34799345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smtClean="0"/>
              <a:t>YARN - </a:t>
            </a:r>
            <a:r>
              <a:rPr lang="en-US" sz="3600" dirty="0"/>
              <a:t>Yet Another Resource Negotiator</a:t>
            </a:r>
          </a:p>
        </p:txBody>
      </p:sp>
      <p:sp>
        <p:nvSpPr>
          <p:cNvPr id="3" name="Content Placeholder 2"/>
          <p:cNvSpPr>
            <a:spLocks noGrp="1"/>
          </p:cNvSpPr>
          <p:nvPr>
            <p:ph idx="1"/>
          </p:nvPr>
        </p:nvSpPr>
        <p:spPr>
          <a:xfrm>
            <a:off x="457200" y="1066800"/>
            <a:ext cx="8229600" cy="5334000"/>
          </a:xfrm>
        </p:spPr>
        <p:txBody>
          <a:bodyPr>
            <a:normAutofit lnSpcReduction="10000"/>
          </a:bodyPr>
          <a:lstStyle/>
          <a:p>
            <a:r>
              <a:rPr lang="en-US" sz="1800" dirty="0" smtClean="0"/>
              <a:t>Limitations of MRv1 – Motivation for YARN</a:t>
            </a:r>
          </a:p>
          <a:p>
            <a:endParaRPr lang="en-US" sz="1800" dirty="0"/>
          </a:p>
          <a:p>
            <a:r>
              <a:rPr lang="en-US" sz="2600" dirty="0"/>
              <a:t>Scalability – Single JT </a:t>
            </a:r>
            <a:r>
              <a:rPr lang="en-US" sz="2600" dirty="0" smtClean="0"/>
              <a:t>– SPOF</a:t>
            </a:r>
          </a:p>
          <a:p>
            <a:pPr lvl="1"/>
            <a:r>
              <a:rPr lang="en-US" sz="1800" dirty="0"/>
              <a:t>max 4000 nodes per cluster</a:t>
            </a:r>
          </a:p>
          <a:p>
            <a:pPr lvl="1"/>
            <a:r>
              <a:rPr lang="en-US" sz="1800" dirty="0" smtClean="0"/>
              <a:t>YARN </a:t>
            </a:r>
            <a:r>
              <a:rPr lang="en-US" sz="1800" dirty="0"/>
              <a:t>equivalent of JT has multiple instances per </a:t>
            </a:r>
            <a:r>
              <a:rPr lang="en-US" sz="1800" dirty="0" smtClean="0"/>
              <a:t>cluster</a:t>
            </a:r>
          </a:p>
          <a:p>
            <a:r>
              <a:rPr lang="en-US" sz="2600" dirty="0" smtClean="0"/>
              <a:t>Under/Over usage of resource</a:t>
            </a:r>
          </a:p>
          <a:p>
            <a:pPr lvl="1"/>
            <a:r>
              <a:rPr lang="en-US" sz="1800" dirty="0"/>
              <a:t>Map and Reduce slots configuration is not dynamic, it is fixed</a:t>
            </a:r>
          </a:p>
          <a:p>
            <a:pPr lvl="1"/>
            <a:r>
              <a:rPr lang="en-US" sz="1800" dirty="0"/>
              <a:t>No slot in YARN</a:t>
            </a:r>
          </a:p>
          <a:p>
            <a:r>
              <a:rPr lang="en-US" sz="2600" dirty="0" smtClean="0"/>
              <a:t>No support for non-MR job – YARN support both</a:t>
            </a:r>
          </a:p>
          <a:p>
            <a:r>
              <a:rPr lang="en-US" sz="2600" dirty="0" smtClean="0"/>
              <a:t>Not optimize for job scheduling</a:t>
            </a:r>
          </a:p>
          <a:p>
            <a:r>
              <a:rPr lang="en-US" sz="2600" dirty="0" smtClean="0"/>
              <a:t>Uber task in YARN</a:t>
            </a:r>
          </a:p>
          <a:p>
            <a:r>
              <a:rPr lang="en-US" sz="2600" dirty="0" smtClean="0"/>
              <a:t>YARN uses same API/CLI/Web UI as MRv1</a:t>
            </a:r>
          </a:p>
          <a:p>
            <a:r>
              <a:rPr lang="en-US" sz="2600" dirty="0" smtClean="0"/>
              <a:t>Separation of Recourse and Job Management, both were handle by JT</a:t>
            </a:r>
          </a:p>
          <a:p>
            <a:pPr lvl="2">
              <a:buFontTx/>
              <a:buChar char="-"/>
            </a:pPr>
            <a:endParaRPr lang="en-US" sz="1800" dirty="0"/>
          </a:p>
          <a:p>
            <a:pPr lvl="2">
              <a:buFontTx/>
              <a:buChar char="-"/>
            </a:pPr>
            <a:endParaRPr lang="en-US" sz="1800" dirty="0" smtClean="0"/>
          </a:p>
        </p:txBody>
      </p:sp>
      <p:sp>
        <p:nvSpPr>
          <p:cNvPr id="4" name="Footer Placeholder 3"/>
          <p:cNvSpPr>
            <a:spLocks noGrp="1"/>
          </p:cNvSpPr>
          <p:nvPr>
            <p:ph type="ftr" sz="quarter" idx="11"/>
          </p:nvPr>
        </p:nvSpPr>
        <p:spPr/>
        <p:txBody>
          <a:bodyPr/>
          <a:lstStyle/>
          <a:p>
            <a:r>
              <a:rPr lang="en-US" smtClean="0"/>
              <a:t>AXP Internal</a:t>
            </a:r>
            <a:endParaRPr lang="en-US"/>
          </a:p>
        </p:txBody>
      </p:sp>
      <p:sp>
        <p:nvSpPr>
          <p:cNvPr id="5" name="Date Placeholder 4"/>
          <p:cNvSpPr>
            <a:spLocks noGrp="1"/>
          </p:cNvSpPr>
          <p:nvPr>
            <p:ph type="dt" sz="half" idx="10"/>
          </p:nvPr>
        </p:nvSpPr>
        <p:spPr/>
        <p:txBody>
          <a:bodyPr/>
          <a:lstStyle/>
          <a:p>
            <a:fld id="{31467161-5B01-4D35-A0EE-99C54E33FC32}" type="datetime5">
              <a:rPr lang="en-US" smtClean="0"/>
              <a:t>15-Aug-16</a:t>
            </a:fld>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10</a:t>
            </a:fld>
            <a:endParaRPr lang="en-US"/>
          </a:p>
        </p:txBody>
      </p:sp>
    </p:spTree>
    <p:extLst>
      <p:ext uri="{BB962C8B-B14F-4D97-AF65-F5344CB8AC3E}">
        <p14:creationId xmlns:p14="http://schemas.microsoft.com/office/powerpoint/2010/main" val="4236969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800" dirty="0" smtClean="0"/>
              <a:t>Entities in YARN</a:t>
            </a:r>
            <a:endParaRPr lang="en-US" sz="2800" dirty="0"/>
          </a:p>
        </p:txBody>
      </p:sp>
      <p:sp>
        <p:nvSpPr>
          <p:cNvPr id="3" name="Content Placeholder 2"/>
          <p:cNvSpPr>
            <a:spLocks noGrp="1"/>
          </p:cNvSpPr>
          <p:nvPr>
            <p:ph idx="1"/>
          </p:nvPr>
        </p:nvSpPr>
        <p:spPr/>
        <p:txBody>
          <a:bodyPr>
            <a:normAutofit fontScale="85000" lnSpcReduction="20000"/>
          </a:bodyPr>
          <a:lstStyle/>
          <a:p>
            <a:r>
              <a:rPr lang="en-US" dirty="0" smtClean="0"/>
              <a:t>Client</a:t>
            </a:r>
            <a:endParaRPr lang="en-US" dirty="0"/>
          </a:p>
          <a:p>
            <a:r>
              <a:rPr lang="en-US" dirty="0" smtClean="0"/>
              <a:t>Resource Manager</a:t>
            </a:r>
          </a:p>
          <a:p>
            <a:pPr lvl="1"/>
            <a:r>
              <a:rPr lang="en-US" dirty="0" smtClean="0"/>
              <a:t>Cluster Resourcing – creates/deletes container</a:t>
            </a:r>
          </a:p>
          <a:p>
            <a:pPr lvl="1"/>
            <a:r>
              <a:rPr lang="en-US" dirty="0" smtClean="0"/>
              <a:t>Job Scheduling – Tracks Node Managers</a:t>
            </a:r>
            <a:endParaRPr lang="en-US" dirty="0"/>
          </a:p>
          <a:p>
            <a:r>
              <a:rPr lang="en-US" dirty="0"/>
              <a:t>N</a:t>
            </a:r>
            <a:r>
              <a:rPr lang="en-US" dirty="0" smtClean="0"/>
              <a:t>ode Managers</a:t>
            </a:r>
          </a:p>
          <a:p>
            <a:pPr lvl="1"/>
            <a:r>
              <a:rPr lang="en-US" dirty="0" smtClean="0"/>
              <a:t>launch </a:t>
            </a:r>
            <a:r>
              <a:rPr lang="en-US" dirty="0"/>
              <a:t>and monitor the compute </a:t>
            </a:r>
            <a:r>
              <a:rPr lang="en-US" dirty="0" smtClean="0"/>
              <a:t>containers</a:t>
            </a:r>
          </a:p>
          <a:p>
            <a:pPr lvl="1"/>
            <a:r>
              <a:rPr lang="en-US" dirty="0" smtClean="0"/>
              <a:t>Container = Logical envelop of resource (CPU + Memory)</a:t>
            </a:r>
            <a:endParaRPr lang="en-US" dirty="0" smtClean="0"/>
          </a:p>
          <a:p>
            <a:r>
              <a:rPr lang="en-US" dirty="0" smtClean="0"/>
              <a:t>Application Master</a:t>
            </a:r>
          </a:p>
          <a:p>
            <a:pPr lvl="1"/>
            <a:r>
              <a:rPr lang="en-US" dirty="0"/>
              <a:t>Resource Negotiation</a:t>
            </a:r>
          </a:p>
          <a:p>
            <a:pPr lvl="1"/>
            <a:r>
              <a:rPr lang="en-US" dirty="0"/>
              <a:t>Job Monitoring</a:t>
            </a:r>
          </a:p>
          <a:p>
            <a:r>
              <a:rPr lang="en-US" dirty="0" smtClean="0"/>
              <a:t>HDFS/</a:t>
            </a:r>
            <a:r>
              <a:rPr lang="en-US" dirty="0"/>
              <a:t>distributed Cache</a:t>
            </a:r>
          </a:p>
        </p:txBody>
      </p:sp>
      <p:sp>
        <p:nvSpPr>
          <p:cNvPr id="4" name="Footer Placeholder 3"/>
          <p:cNvSpPr>
            <a:spLocks noGrp="1"/>
          </p:cNvSpPr>
          <p:nvPr>
            <p:ph type="ftr" sz="quarter" idx="11"/>
          </p:nvPr>
        </p:nvSpPr>
        <p:spPr/>
        <p:txBody>
          <a:bodyPr/>
          <a:lstStyle/>
          <a:p>
            <a:r>
              <a:rPr lang="en-US" smtClean="0"/>
              <a:t>AXP Internal</a:t>
            </a:r>
            <a:endParaRPr lang="en-US"/>
          </a:p>
        </p:txBody>
      </p:sp>
      <p:sp>
        <p:nvSpPr>
          <p:cNvPr id="5" name="Date Placeholder 4"/>
          <p:cNvSpPr>
            <a:spLocks noGrp="1"/>
          </p:cNvSpPr>
          <p:nvPr>
            <p:ph type="dt" sz="half" idx="10"/>
          </p:nvPr>
        </p:nvSpPr>
        <p:spPr/>
        <p:txBody>
          <a:bodyPr/>
          <a:lstStyle/>
          <a:p>
            <a:fld id="{B80A6B4F-C1F2-43C4-A5D5-B219C267DB8D}" type="datetime5">
              <a:rPr lang="en-US" smtClean="0"/>
              <a:t>15-Aug-16</a:t>
            </a:fld>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11</a:t>
            </a:fld>
            <a:endParaRPr lang="en-US"/>
          </a:p>
        </p:txBody>
      </p:sp>
    </p:spTree>
    <p:extLst>
      <p:ext uri="{BB962C8B-B14F-4D97-AF65-F5344CB8AC3E}">
        <p14:creationId xmlns:p14="http://schemas.microsoft.com/office/powerpoint/2010/main" val="29734648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C244AF9-C904-4201-A950-36D1E37A092B}" type="datetime5">
              <a:rPr lang="en-US" smtClean="0"/>
              <a:t>15-Aug-16</a:t>
            </a:fld>
            <a:endParaRPr lang="en-US"/>
          </a:p>
        </p:txBody>
      </p:sp>
      <p:sp>
        <p:nvSpPr>
          <p:cNvPr id="5" name="Footer Placeholder 4"/>
          <p:cNvSpPr>
            <a:spLocks noGrp="1"/>
          </p:cNvSpPr>
          <p:nvPr>
            <p:ph type="ftr" sz="quarter" idx="11"/>
          </p:nvPr>
        </p:nvSpPr>
        <p:spPr/>
        <p:txBody>
          <a:bodyPr/>
          <a:lstStyle/>
          <a:p>
            <a:r>
              <a:rPr lang="en-US" smtClean="0"/>
              <a:t>AXP Internal</a:t>
            </a:r>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12</a:t>
            </a:fld>
            <a:endParaRPr lang="en-US"/>
          </a:p>
        </p:txBody>
      </p:sp>
      <p:pic>
        <p:nvPicPr>
          <p:cNvPr id="9" name="Picture 8"/>
          <p:cNvPicPr>
            <a:picLocks noChangeAspect="1"/>
          </p:cNvPicPr>
          <p:nvPr/>
        </p:nvPicPr>
        <p:blipFill>
          <a:blip r:embed="rId2"/>
          <a:stretch>
            <a:fillRect/>
          </a:stretch>
        </p:blipFill>
        <p:spPr>
          <a:xfrm>
            <a:off x="1362075" y="304800"/>
            <a:ext cx="6419850" cy="5781675"/>
          </a:xfrm>
          <a:prstGeom prst="rect">
            <a:avLst/>
          </a:prstGeom>
        </p:spPr>
      </p:pic>
    </p:spTree>
    <p:extLst>
      <p:ext uri="{BB962C8B-B14F-4D97-AF65-F5344CB8AC3E}">
        <p14:creationId xmlns:p14="http://schemas.microsoft.com/office/powerpoint/2010/main" val="3793300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76400"/>
            <a:ext cx="7558087" cy="33870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990709" y="768329"/>
            <a:ext cx="2491067" cy="523220"/>
          </a:xfrm>
          <a:prstGeom prst="rect">
            <a:avLst/>
          </a:prstGeom>
        </p:spPr>
        <p:txBody>
          <a:bodyPr wrap="none">
            <a:spAutoFit/>
          </a:bodyPr>
          <a:lstStyle/>
          <a:p>
            <a:r>
              <a:rPr lang="en-US" sz="2800" dirty="0"/>
              <a:t>Shuffle and </a:t>
            </a:r>
            <a:r>
              <a:rPr lang="en-US" sz="2800" dirty="0" smtClean="0"/>
              <a:t>sort</a:t>
            </a:r>
            <a:endParaRPr lang="en-US" sz="2800" dirty="0"/>
          </a:p>
        </p:txBody>
      </p:sp>
      <p:sp>
        <p:nvSpPr>
          <p:cNvPr id="2" name="Footer Placeholder 1"/>
          <p:cNvSpPr>
            <a:spLocks noGrp="1"/>
          </p:cNvSpPr>
          <p:nvPr>
            <p:ph type="ftr" sz="quarter" idx="11"/>
          </p:nvPr>
        </p:nvSpPr>
        <p:spPr/>
        <p:txBody>
          <a:bodyPr/>
          <a:lstStyle/>
          <a:p>
            <a:r>
              <a:rPr lang="en-US" smtClean="0"/>
              <a:t>AXP Internal</a:t>
            </a:r>
            <a:endParaRPr lang="en-US"/>
          </a:p>
        </p:txBody>
      </p:sp>
      <p:sp>
        <p:nvSpPr>
          <p:cNvPr id="3" name="Date Placeholder 2"/>
          <p:cNvSpPr>
            <a:spLocks noGrp="1"/>
          </p:cNvSpPr>
          <p:nvPr>
            <p:ph type="dt" sz="half" idx="10"/>
          </p:nvPr>
        </p:nvSpPr>
        <p:spPr/>
        <p:txBody>
          <a:bodyPr/>
          <a:lstStyle/>
          <a:p>
            <a:fld id="{9D73A528-E465-4468-B65F-8E80E005185F}" type="datetime5">
              <a:rPr lang="en-US" smtClean="0"/>
              <a:t>15-Aug-16</a:t>
            </a:fld>
            <a:endParaRPr lang="en-US"/>
          </a:p>
        </p:txBody>
      </p:sp>
      <p:sp>
        <p:nvSpPr>
          <p:cNvPr id="5" name="Slide Number Placeholder 4"/>
          <p:cNvSpPr>
            <a:spLocks noGrp="1"/>
          </p:cNvSpPr>
          <p:nvPr>
            <p:ph type="sldNum" sz="quarter" idx="12"/>
          </p:nvPr>
        </p:nvSpPr>
        <p:spPr/>
        <p:txBody>
          <a:bodyPr/>
          <a:lstStyle/>
          <a:p>
            <a:fld id="{B500B02B-286B-4C88-AC97-658498CB3C15}" type="slidenum">
              <a:rPr lang="en-US" smtClean="0"/>
              <a:t>13</a:t>
            </a:fld>
            <a:endParaRPr lang="en-US"/>
          </a:p>
        </p:txBody>
      </p:sp>
    </p:spTree>
    <p:extLst>
      <p:ext uri="{BB962C8B-B14F-4D97-AF65-F5344CB8AC3E}">
        <p14:creationId xmlns:p14="http://schemas.microsoft.com/office/powerpoint/2010/main" val="17067109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762000"/>
            <a:ext cx="8229600" cy="4525963"/>
          </a:xfrm>
        </p:spPr>
        <p:txBody>
          <a:bodyPr>
            <a:normAutofit fontScale="62500" lnSpcReduction="20000"/>
          </a:bodyPr>
          <a:lstStyle/>
          <a:p>
            <a:r>
              <a:rPr lang="en-US" dirty="0" smtClean="0"/>
              <a:t>MapReduce </a:t>
            </a:r>
            <a:r>
              <a:rPr lang="en-US" dirty="0"/>
              <a:t>program consists </a:t>
            </a:r>
            <a:r>
              <a:rPr lang="en-US" dirty="0" smtClean="0"/>
              <a:t>3 </a:t>
            </a:r>
            <a:r>
              <a:rPr lang="en-US" dirty="0"/>
              <a:t>parts :</a:t>
            </a:r>
          </a:p>
          <a:p>
            <a:pPr lvl="1"/>
            <a:r>
              <a:rPr lang="en-US" dirty="0"/>
              <a:t>Driver</a:t>
            </a:r>
          </a:p>
          <a:p>
            <a:pPr lvl="1"/>
            <a:r>
              <a:rPr lang="en-US" dirty="0"/>
              <a:t>Mapper</a:t>
            </a:r>
          </a:p>
          <a:p>
            <a:pPr lvl="1"/>
            <a:r>
              <a:rPr lang="en-US" dirty="0" smtClean="0"/>
              <a:t>Reducer</a:t>
            </a:r>
          </a:p>
          <a:p>
            <a:r>
              <a:rPr lang="en-US" dirty="0" smtClean="0"/>
              <a:t>Framework makes guarantee that input to every reducer is sorted by key</a:t>
            </a:r>
          </a:p>
          <a:p>
            <a:r>
              <a:rPr lang="en-US" dirty="0" smtClean="0"/>
              <a:t>Shuffle – most time consuming, give more memory as much possible</a:t>
            </a:r>
          </a:p>
          <a:p>
            <a:r>
              <a:rPr lang="en-US" dirty="0" smtClean="0"/>
              <a:t>Compress Map o/p saves disk space and N/W BW</a:t>
            </a:r>
          </a:p>
          <a:p>
            <a:r>
              <a:rPr lang="en-US" dirty="0" smtClean="0"/>
              <a:t>Reducer SORT is actually Merge Phase ???</a:t>
            </a:r>
          </a:p>
          <a:p>
            <a:r>
              <a:rPr lang="en-US" dirty="0" smtClean="0"/>
              <a:t>Merge the min no of files to get merge factor (</a:t>
            </a:r>
            <a:r>
              <a:rPr lang="en-US" dirty="0" err="1" smtClean="0"/>
              <a:t>io.sort.factor</a:t>
            </a:r>
            <a:r>
              <a:rPr lang="en-US" dirty="0" smtClean="0"/>
              <a:t>) in final round – Optimization</a:t>
            </a:r>
          </a:p>
          <a:p>
            <a:r>
              <a:rPr lang="en-US" dirty="0" err="1" smtClean="0"/>
              <a:t>Io.sort.mb</a:t>
            </a:r>
            <a:r>
              <a:rPr lang="en-US" dirty="0" smtClean="0"/>
              <a:t> = default 100 MB = Memory buffer to use while sorting map output</a:t>
            </a:r>
          </a:p>
          <a:p>
            <a:r>
              <a:rPr lang="en-US" dirty="0" smtClean="0"/>
              <a:t>Partitioning is done by Hash Function</a:t>
            </a:r>
          </a:p>
          <a:p>
            <a:endParaRPr lang="en-US" dirty="0" smtClean="0"/>
          </a:p>
          <a:p>
            <a:endParaRPr lang="en-US" dirty="0" smtClean="0"/>
          </a:p>
          <a:p>
            <a:endParaRPr lang="en-US" dirty="0"/>
          </a:p>
          <a:p>
            <a:endParaRPr lang="en-US" dirty="0"/>
          </a:p>
        </p:txBody>
      </p:sp>
      <p:sp>
        <p:nvSpPr>
          <p:cNvPr id="2" name="Footer Placeholder 1"/>
          <p:cNvSpPr>
            <a:spLocks noGrp="1"/>
          </p:cNvSpPr>
          <p:nvPr>
            <p:ph type="ftr" sz="quarter" idx="11"/>
          </p:nvPr>
        </p:nvSpPr>
        <p:spPr/>
        <p:txBody>
          <a:bodyPr/>
          <a:lstStyle/>
          <a:p>
            <a:r>
              <a:rPr lang="en-US" smtClean="0"/>
              <a:t>AXP Internal</a:t>
            </a:r>
            <a:endParaRPr lang="en-US"/>
          </a:p>
        </p:txBody>
      </p:sp>
      <p:sp>
        <p:nvSpPr>
          <p:cNvPr id="4" name="Date Placeholder 3"/>
          <p:cNvSpPr>
            <a:spLocks noGrp="1"/>
          </p:cNvSpPr>
          <p:nvPr>
            <p:ph type="dt" sz="half" idx="10"/>
          </p:nvPr>
        </p:nvSpPr>
        <p:spPr/>
        <p:txBody>
          <a:bodyPr/>
          <a:lstStyle/>
          <a:p>
            <a:fld id="{D2B9AA1A-351D-40DF-8C86-394EF833A657}" type="datetime5">
              <a:rPr lang="en-US" smtClean="0"/>
              <a:t>15-Aug-16</a:t>
            </a:fld>
            <a:endParaRPr lang="en-US"/>
          </a:p>
        </p:txBody>
      </p:sp>
      <p:sp>
        <p:nvSpPr>
          <p:cNvPr id="5" name="Slide Number Placeholder 4"/>
          <p:cNvSpPr>
            <a:spLocks noGrp="1"/>
          </p:cNvSpPr>
          <p:nvPr>
            <p:ph type="sldNum" sz="quarter" idx="12"/>
          </p:nvPr>
        </p:nvSpPr>
        <p:spPr/>
        <p:txBody>
          <a:bodyPr/>
          <a:lstStyle/>
          <a:p>
            <a:fld id="{B500B02B-286B-4C88-AC97-658498CB3C15}" type="slidenum">
              <a:rPr lang="en-US" smtClean="0"/>
              <a:t>14</a:t>
            </a:fld>
            <a:endParaRPr lang="en-US"/>
          </a:p>
        </p:txBody>
      </p:sp>
    </p:spTree>
    <p:extLst>
      <p:ext uri="{BB962C8B-B14F-4D97-AF65-F5344CB8AC3E}">
        <p14:creationId xmlns:p14="http://schemas.microsoft.com/office/powerpoint/2010/main" val="10728656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i="1" dirty="0"/>
              <a:t>Efficiently merging 40 file segments with a merge factor of 10</a:t>
            </a:r>
            <a:endParaRPr lang="en-US" sz="2400" dirty="0"/>
          </a:p>
        </p:txBody>
      </p:sp>
      <p:sp>
        <p:nvSpPr>
          <p:cNvPr id="4" name="Date Placeholder 3"/>
          <p:cNvSpPr>
            <a:spLocks noGrp="1"/>
          </p:cNvSpPr>
          <p:nvPr>
            <p:ph type="dt" sz="half" idx="10"/>
          </p:nvPr>
        </p:nvSpPr>
        <p:spPr/>
        <p:txBody>
          <a:bodyPr/>
          <a:lstStyle/>
          <a:p>
            <a:fld id="{458AC958-AC79-4236-B063-B0B077D6A695}" type="datetime5">
              <a:rPr lang="en-US" smtClean="0"/>
              <a:t>15-Aug-16</a:t>
            </a:fld>
            <a:endParaRPr lang="en-US"/>
          </a:p>
        </p:txBody>
      </p:sp>
      <p:sp>
        <p:nvSpPr>
          <p:cNvPr id="5" name="Footer Placeholder 4"/>
          <p:cNvSpPr>
            <a:spLocks noGrp="1"/>
          </p:cNvSpPr>
          <p:nvPr>
            <p:ph type="ftr" sz="quarter" idx="11"/>
          </p:nvPr>
        </p:nvSpPr>
        <p:spPr/>
        <p:txBody>
          <a:bodyPr/>
          <a:lstStyle/>
          <a:p>
            <a:r>
              <a:rPr lang="en-US" smtClean="0"/>
              <a:t>AXP Internal</a:t>
            </a:r>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15</a:t>
            </a:fld>
            <a:endParaRPr lang="en-US"/>
          </a:p>
        </p:txBody>
      </p:sp>
      <p:pic>
        <p:nvPicPr>
          <p:cNvPr id="8" name="Picture 7"/>
          <p:cNvPicPr>
            <a:picLocks noChangeAspect="1"/>
          </p:cNvPicPr>
          <p:nvPr/>
        </p:nvPicPr>
        <p:blipFill>
          <a:blip r:embed="rId2"/>
          <a:stretch>
            <a:fillRect/>
          </a:stretch>
        </p:blipFill>
        <p:spPr>
          <a:xfrm>
            <a:off x="914400" y="1249362"/>
            <a:ext cx="6915150" cy="4848225"/>
          </a:xfrm>
          <a:prstGeom prst="rect">
            <a:avLst/>
          </a:prstGeom>
        </p:spPr>
      </p:pic>
    </p:spTree>
    <p:extLst>
      <p:ext uri="{BB962C8B-B14F-4D97-AF65-F5344CB8AC3E}">
        <p14:creationId xmlns:p14="http://schemas.microsoft.com/office/powerpoint/2010/main" val="2116551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mapreduce-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457199"/>
            <a:ext cx="6867525" cy="594360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p:cNvSpPr>
            <a:spLocks noGrp="1"/>
          </p:cNvSpPr>
          <p:nvPr>
            <p:ph type="ftr" sz="quarter" idx="11"/>
          </p:nvPr>
        </p:nvSpPr>
        <p:spPr/>
        <p:txBody>
          <a:bodyPr/>
          <a:lstStyle/>
          <a:p>
            <a:r>
              <a:rPr lang="en-US" smtClean="0"/>
              <a:t>AXP Internal</a:t>
            </a:r>
            <a:endParaRPr lang="en-US"/>
          </a:p>
        </p:txBody>
      </p:sp>
      <p:sp>
        <p:nvSpPr>
          <p:cNvPr id="3" name="Date Placeholder 2"/>
          <p:cNvSpPr>
            <a:spLocks noGrp="1"/>
          </p:cNvSpPr>
          <p:nvPr>
            <p:ph type="dt" sz="half" idx="10"/>
          </p:nvPr>
        </p:nvSpPr>
        <p:spPr/>
        <p:txBody>
          <a:bodyPr/>
          <a:lstStyle/>
          <a:p>
            <a:fld id="{EE48E3BD-362A-416C-B6BA-D21F58F3A8EE}" type="datetime5">
              <a:rPr lang="en-US" smtClean="0"/>
              <a:t>15-Aug-16</a:t>
            </a:fld>
            <a:endParaRPr lang="en-US"/>
          </a:p>
        </p:txBody>
      </p:sp>
      <p:sp>
        <p:nvSpPr>
          <p:cNvPr id="4" name="Slide Number Placeholder 3"/>
          <p:cNvSpPr>
            <a:spLocks noGrp="1"/>
          </p:cNvSpPr>
          <p:nvPr>
            <p:ph type="sldNum" sz="quarter" idx="12"/>
          </p:nvPr>
        </p:nvSpPr>
        <p:spPr/>
        <p:txBody>
          <a:bodyPr/>
          <a:lstStyle/>
          <a:p>
            <a:fld id="{B500B02B-286B-4C88-AC97-658498CB3C15}" type="slidenum">
              <a:rPr lang="en-US" smtClean="0"/>
              <a:t>16</a:t>
            </a:fld>
            <a:endParaRPr lang="en-US"/>
          </a:p>
        </p:txBody>
      </p:sp>
    </p:spTree>
    <p:extLst>
      <p:ext uri="{BB962C8B-B14F-4D97-AF65-F5344CB8AC3E}">
        <p14:creationId xmlns:p14="http://schemas.microsoft.com/office/powerpoint/2010/main" val="41099136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RecordReader</a:t>
            </a:r>
            <a:endParaRPr lang="en-US" dirty="0"/>
          </a:p>
        </p:txBody>
      </p:sp>
      <p:sp>
        <p:nvSpPr>
          <p:cNvPr id="3" name="Content Placeholder 2"/>
          <p:cNvSpPr>
            <a:spLocks noGrp="1"/>
          </p:cNvSpPr>
          <p:nvPr>
            <p:ph idx="1"/>
          </p:nvPr>
        </p:nvSpPr>
        <p:spPr/>
        <p:txBody>
          <a:bodyPr>
            <a:normAutofit lnSpcReduction="10000"/>
          </a:bodyPr>
          <a:lstStyle/>
          <a:p>
            <a:r>
              <a:rPr lang="en-US" dirty="0" err="1" smtClean="0"/>
              <a:t>InputSplit</a:t>
            </a:r>
            <a:r>
              <a:rPr lang="en-US" dirty="0" smtClean="0"/>
              <a:t> </a:t>
            </a:r>
            <a:r>
              <a:rPr lang="en-US" dirty="0"/>
              <a:t>has defined a slice of work, but does not describe how to access it. </a:t>
            </a:r>
            <a:endParaRPr lang="en-US" dirty="0" smtClean="0"/>
          </a:p>
          <a:p>
            <a:r>
              <a:rPr lang="en-US" dirty="0" smtClean="0"/>
              <a:t>RR class </a:t>
            </a:r>
            <a:r>
              <a:rPr lang="en-US" dirty="0"/>
              <a:t>actually loads the data from its source and converts it into (key, value) pairs suitable for reading by the Mapper. </a:t>
            </a:r>
            <a:endParaRPr lang="en-US" dirty="0" smtClean="0"/>
          </a:p>
          <a:p>
            <a:r>
              <a:rPr lang="en-US" dirty="0" smtClean="0"/>
              <a:t>RR </a:t>
            </a:r>
            <a:r>
              <a:rPr lang="en-US" dirty="0"/>
              <a:t>instance is defined by the </a:t>
            </a:r>
            <a:r>
              <a:rPr lang="en-US" dirty="0" err="1"/>
              <a:t>InputFormat</a:t>
            </a:r>
            <a:r>
              <a:rPr lang="en-US" dirty="0"/>
              <a:t>. The default </a:t>
            </a:r>
            <a:r>
              <a:rPr lang="en-US" dirty="0" smtClean="0"/>
              <a:t>is </a:t>
            </a:r>
            <a:r>
              <a:rPr lang="en-US" i="1" dirty="0" err="1" smtClean="0"/>
              <a:t>TextInputFormat</a:t>
            </a:r>
            <a:endParaRPr lang="en-US" i="1" dirty="0" smtClean="0"/>
          </a:p>
          <a:p>
            <a:r>
              <a:rPr lang="en-US" dirty="0" smtClean="0"/>
              <a:t>The </a:t>
            </a:r>
            <a:r>
              <a:rPr lang="en-US" dirty="0"/>
              <a:t>key associated with each line is its byte offset in the file. </a:t>
            </a:r>
          </a:p>
        </p:txBody>
      </p:sp>
      <p:sp>
        <p:nvSpPr>
          <p:cNvPr id="4" name="Footer Placeholder 3"/>
          <p:cNvSpPr>
            <a:spLocks noGrp="1"/>
          </p:cNvSpPr>
          <p:nvPr>
            <p:ph type="ftr" sz="quarter" idx="11"/>
          </p:nvPr>
        </p:nvSpPr>
        <p:spPr/>
        <p:txBody>
          <a:bodyPr/>
          <a:lstStyle/>
          <a:p>
            <a:r>
              <a:rPr lang="en-US" smtClean="0"/>
              <a:t>AXP Internal</a:t>
            </a:r>
            <a:endParaRPr lang="en-US"/>
          </a:p>
        </p:txBody>
      </p:sp>
      <p:sp>
        <p:nvSpPr>
          <p:cNvPr id="5" name="Date Placeholder 4"/>
          <p:cNvSpPr>
            <a:spLocks noGrp="1"/>
          </p:cNvSpPr>
          <p:nvPr>
            <p:ph type="dt" sz="half" idx="10"/>
          </p:nvPr>
        </p:nvSpPr>
        <p:spPr/>
        <p:txBody>
          <a:bodyPr/>
          <a:lstStyle/>
          <a:p>
            <a:fld id="{08661A45-09FE-4912-B268-BD2048AE4061}" type="datetime5">
              <a:rPr lang="en-US" smtClean="0"/>
              <a:t>15-Aug-16</a:t>
            </a:fld>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17</a:t>
            </a:fld>
            <a:endParaRPr lang="en-US"/>
          </a:p>
        </p:txBody>
      </p:sp>
    </p:spTree>
    <p:extLst>
      <p:ext uri="{BB962C8B-B14F-4D97-AF65-F5344CB8AC3E}">
        <p14:creationId xmlns:p14="http://schemas.microsoft.com/office/powerpoint/2010/main" val="4626858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Driver</a:t>
            </a:r>
            <a:endParaRPr lang="en-US" dirty="0"/>
          </a:p>
        </p:txBody>
      </p:sp>
      <p:sp>
        <p:nvSpPr>
          <p:cNvPr id="3" name="Content Placeholder 2"/>
          <p:cNvSpPr>
            <a:spLocks noGrp="1"/>
          </p:cNvSpPr>
          <p:nvPr>
            <p:ph idx="1"/>
          </p:nvPr>
        </p:nvSpPr>
        <p:spPr>
          <a:xfrm>
            <a:off x="457200" y="1143000"/>
            <a:ext cx="8229600" cy="4983163"/>
          </a:xfrm>
        </p:spPr>
        <p:txBody>
          <a:bodyPr>
            <a:normAutofit fontScale="85000" lnSpcReduction="10000"/>
          </a:bodyPr>
          <a:lstStyle/>
          <a:p>
            <a:r>
              <a:rPr lang="en-US" dirty="0"/>
              <a:t>The Driver code runs on the client machine and is responsible for building the configuration of the job and submitting it to the Hadoop Cluster. The Driver code will contain the main() method that accepts arguments from the command line.</a:t>
            </a:r>
          </a:p>
          <a:p>
            <a:r>
              <a:rPr lang="en-US" dirty="0" smtClean="0"/>
              <a:t>common libraries:</a:t>
            </a:r>
          </a:p>
          <a:p>
            <a:pPr marL="0" indent="0">
              <a:buNone/>
            </a:pPr>
            <a:r>
              <a:rPr lang="en-US" sz="2300" dirty="0" smtClean="0">
                <a:latin typeface="Courier New" panose="02070309020205020404" pitchFamily="49" charset="0"/>
                <a:cs typeface="Courier New" panose="02070309020205020404" pitchFamily="49" charset="0"/>
              </a:rPr>
              <a:t>import </a:t>
            </a:r>
            <a:r>
              <a:rPr lang="en-US" sz="2300" dirty="0" err="1" smtClean="0">
                <a:latin typeface="Courier New" panose="02070309020205020404" pitchFamily="49" charset="0"/>
                <a:cs typeface="Courier New" panose="02070309020205020404" pitchFamily="49" charset="0"/>
              </a:rPr>
              <a:t>org.apache.hadoop.fs.Path</a:t>
            </a:r>
            <a:r>
              <a:rPr lang="en-US" sz="2300" dirty="0" smtClean="0">
                <a:latin typeface="Courier New" panose="02070309020205020404" pitchFamily="49" charset="0"/>
                <a:cs typeface="Courier New" panose="02070309020205020404" pitchFamily="49" charset="0"/>
              </a:rPr>
              <a:t>;</a:t>
            </a:r>
          </a:p>
          <a:p>
            <a:pPr marL="0" indent="0">
              <a:buNone/>
            </a:pPr>
            <a:r>
              <a:rPr lang="en-US" sz="2300" dirty="0" smtClean="0">
                <a:latin typeface="Courier New" panose="02070309020205020404" pitchFamily="49" charset="0"/>
                <a:cs typeface="Courier New" panose="02070309020205020404" pitchFamily="49" charset="0"/>
              </a:rPr>
              <a:t>import org.apache.hadoop.io.*;</a:t>
            </a:r>
          </a:p>
          <a:p>
            <a:pPr marL="0" indent="0">
              <a:buNone/>
            </a:pPr>
            <a:r>
              <a:rPr lang="en-US" sz="2300" dirty="0" smtClean="0">
                <a:latin typeface="Courier New" panose="02070309020205020404" pitchFamily="49" charset="0"/>
                <a:cs typeface="Courier New" panose="02070309020205020404" pitchFamily="49" charset="0"/>
              </a:rPr>
              <a:t>import </a:t>
            </a:r>
            <a:r>
              <a:rPr lang="en-US" sz="2300" dirty="0" err="1" smtClean="0">
                <a:latin typeface="Courier New" panose="02070309020205020404" pitchFamily="49" charset="0"/>
                <a:cs typeface="Courier New" panose="02070309020205020404" pitchFamily="49" charset="0"/>
              </a:rPr>
              <a:t>org.apache.hadoop.mapred</a:t>
            </a:r>
            <a:r>
              <a:rPr lang="en-US" sz="2300" dirty="0" smtClean="0">
                <a:latin typeface="Courier New" panose="02070309020205020404" pitchFamily="49" charset="0"/>
                <a:cs typeface="Courier New" panose="02070309020205020404" pitchFamily="49" charset="0"/>
              </a:rPr>
              <a:t>.*;</a:t>
            </a:r>
          </a:p>
          <a:p>
            <a:pPr marL="0" indent="0">
              <a:buNone/>
            </a:pPr>
            <a:endParaRPr lang="en-US" sz="2300" dirty="0" smtClean="0">
              <a:latin typeface="Courier New" panose="02070309020205020404" pitchFamily="49" charset="0"/>
              <a:cs typeface="Courier New" panose="02070309020205020404" pitchFamily="49" charset="0"/>
            </a:endParaRPr>
          </a:p>
          <a:p>
            <a:r>
              <a:rPr lang="en-US" dirty="0" smtClean="0"/>
              <a:t>The </a:t>
            </a:r>
            <a:r>
              <a:rPr lang="en-US" dirty="0" err="1" smtClean="0"/>
              <a:t>JobConf</a:t>
            </a:r>
            <a:r>
              <a:rPr lang="en-US" dirty="0" smtClean="0"/>
              <a:t> class allows you to configure the different properties for the Mapper, Combiner, </a:t>
            </a:r>
            <a:r>
              <a:rPr lang="en-US" dirty="0" err="1" smtClean="0"/>
              <a:t>Partitioner</a:t>
            </a:r>
            <a:r>
              <a:rPr lang="en-US" dirty="0" smtClean="0"/>
              <a:t>, Reducer, </a:t>
            </a:r>
            <a:r>
              <a:rPr lang="en-US" dirty="0" err="1" smtClean="0"/>
              <a:t>InputFormat</a:t>
            </a:r>
            <a:r>
              <a:rPr lang="en-US" dirty="0" smtClean="0"/>
              <a:t> and </a:t>
            </a:r>
            <a:r>
              <a:rPr lang="en-US" dirty="0" err="1" smtClean="0"/>
              <a:t>OutputFormat</a:t>
            </a:r>
            <a:r>
              <a:rPr lang="en-US" dirty="0" smtClean="0"/>
              <a:t>.</a:t>
            </a:r>
          </a:p>
          <a:p>
            <a:endParaRPr lang="en-US" dirty="0"/>
          </a:p>
          <a:p>
            <a:endParaRPr lang="en-US" dirty="0"/>
          </a:p>
        </p:txBody>
      </p:sp>
      <p:sp>
        <p:nvSpPr>
          <p:cNvPr id="4" name="Footer Placeholder 3"/>
          <p:cNvSpPr>
            <a:spLocks noGrp="1"/>
          </p:cNvSpPr>
          <p:nvPr>
            <p:ph type="ftr" sz="quarter" idx="11"/>
          </p:nvPr>
        </p:nvSpPr>
        <p:spPr/>
        <p:txBody>
          <a:bodyPr/>
          <a:lstStyle/>
          <a:p>
            <a:r>
              <a:rPr lang="en-US" smtClean="0"/>
              <a:t>AXP Internal</a:t>
            </a:r>
            <a:endParaRPr lang="en-US"/>
          </a:p>
        </p:txBody>
      </p:sp>
      <p:sp>
        <p:nvSpPr>
          <p:cNvPr id="5" name="Date Placeholder 4"/>
          <p:cNvSpPr>
            <a:spLocks noGrp="1"/>
          </p:cNvSpPr>
          <p:nvPr>
            <p:ph type="dt" sz="half" idx="10"/>
          </p:nvPr>
        </p:nvSpPr>
        <p:spPr/>
        <p:txBody>
          <a:bodyPr/>
          <a:lstStyle/>
          <a:p>
            <a:fld id="{C43F7880-A21B-4364-A43E-667C163C332D}" type="datetime5">
              <a:rPr lang="en-US" smtClean="0"/>
              <a:t>15-Aug-16</a:t>
            </a:fld>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18</a:t>
            </a:fld>
            <a:endParaRPr lang="en-US"/>
          </a:p>
        </p:txBody>
      </p:sp>
    </p:spTree>
    <p:extLst>
      <p:ext uri="{BB962C8B-B14F-4D97-AF65-F5344CB8AC3E}">
        <p14:creationId xmlns:p14="http://schemas.microsoft.com/office/powerpoint/2010/main" val="32085719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229600" cy="6126163"/>
          </a:xfrm>
        </p:spPr>
        <p:txBody>
          <a:bodyPr>
            <a:noAutofit/>
          </a:bodyPr>
          <a:lstStyle/>
          <a:p>
            <a:pPr marL="0" indent="0" fontAlgn="base">
              <a:buNone/>
            </a:pPr>
            <a:r>
              <a:rPr lang="en-US" sz="1000" dirty="0" smtClean="0">
                <a:latin typeface="Courier New" panose="02070309020205020404" pitchFamily="49" charset="0"/>
                <a:cs typeface="Courier New" panose="02070309020205020404" pitchFamily="49" charset="0"/>
              </a:rPr>
              <a:t>public </a:t>
            </a:r>
            <a:r>
              <a:rPr lang="en-US" sz="1000" dirty="0">
                <a:latin typeface="Courier New" panose="02070309020205020404" pitchFamily="49" charset="0"/>
                <a:cs typeface="Courier New" panose="02070309020205020404" pitchFamily="49" charset="0"/>
              </a:rPr>
              <a:t>class </a:t>
            </a:r>
            <a:r>
              <a:rPr lang="en-US" sz="1000" dirty="0" err="1">
                <a:latin typeface="Courier New" panose="02070309020205020404" pitchFamily="49" charset="0"/>
                <a:cs typeface="Courier New" panose="02070309020205020404" pitchFamily="49" charset="0"/>
              </a:rPr>
              <a:t>MyDriver</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public static void main(String[] </a:t>
            </a:r>
            <a:r>
              <a:rPr lang="en-US" sz="1000" dirty="0" err="1">
                <a:latin typeface="Courier New" panose="02070309020205020404" pitchFamily="49" charset="0"/>
                <a:cs typeface="Courier New" panose="02070309020205020404" pitchFamily="49" charset="0"/>
              </a:rPr>
              <a:t>args</a:t>
            </a:r>
            <a:r>
              <a:rPr lang="en-US" sz="1000" dirty="0">
                <a:latin typeface="Courier New" panose="02070309020205020404" pitchFamily="49" charset="0"/>
                <a:cs typeface="Courier New" panose="02070309020205020404" pitchFamily="49" charset="0"/>
              </a:rPr>
              <a:t>) throws Exception {</a:t>
            </a:r>
          </a:p>
          <a:p>
            <a:pPr marL="0" indent="0" fontAlgn="base">
              <a:buNone/>
            </a:pPr>
            <a:r>
              <a:rPr lang="en-US" sz="1000" dirty="0">
                <a:latin typeface="Courier New" panose="02070309020205020404" pitchFamily="49" charset="0"/>
                <a:cs typeface="Courier New" panose="02070309020205020404" pitchFamily="49" charset="0"/>
              </a:rPr>
              <a:t>// Create the </a:t>
            </a:r>
            <a:r>
              <a:rPr lang="en-US" sz="1000" dirty="0" err="1">
                <a:latin typeface="Courier New" panose="02070309020205020404" pitchFamily="49" charset="0"/>
                <a:cs typeface="Courier New" panose="02070309020205020404" pitchFamily="49" charset="0"/>
              </a:rPr>
              <a:t>JobConf</a:t>
            </a:r>
            <a:r>
              <a:rPr lang="en-US" sz="1000" dirty="0">
                <a:latin typeface="Courier New" panose="02070309020205020404" pitchFamily="49" charset="0"/>
                <a:cs typeface="Courier New" panose="02070309020205020404" pitchFamily="49" charset="0"/>
              </a:rPr>
              <a:t> object</a:t>
            </a:r>
          </a:p>
          <a:p>
            <a:pPr marL="0" indent="0" fontAlgn="base">
              <a:buNone/>
            </a:pPr>
            <a:r>
              <a:rPr lang="en-US" sz="1000" dirty="0" err="1">
                <a:latin typeface="Courier New" panose="02070309020205020404" pitchFamily="49" charset="0"/>
                <a:cs typeface="Courier New" panose="02070309020205020404" pitchFamily="49" charset="0"/>
              </a:rPr>
              <a:t>JobConf</a:t>
            </a:r>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conf</a:t>
            </a:r>
            <a:r>
              <a:rPr lang="en-US" sz="1000" dirty="0">
                <a:latin typeface="Courier New" panose="02070309020205020404" pitchFamily="49" charset="0"/>
                <a:cs typeface="Courier New" panose="02070309020205020404" pitchFamily="49" charset="0"/>
              </a:rPr>
              <a:t> = new </a:t>
            </a:r>
            <a:r>
              <a:rPr lang="en-US" sz="1000" dirty="0" err="1">
                <a:latin typeface="Courier New" panose="02070309020205020404" pitchFamily="49" charset="0"/>
                <a:cs typeface="Courier New" panose="02070309020205020404" pitchFamily="49" charset="0"/>
              </a:rPr>
              <a:t>JobConf</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MyDriver.class</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 </a:t>
            </a:r>
            <a:r>
              <a:rPr lang="en-US" sz="1000" dirty="0" smtClean="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Set the name of the Job</a:t>
            </a:r>
          </a:p>
          <a:p>
            <a:pPr marL="0" indent="0" fontAlgn="base">
              <a:buNone/>
            </a:pPr>
            <a:r>
              <a:rPr lang="en-US" sz="1000" dirty="0" err="1">
                <a:latin typeface="Courier New" panose="02070309020205020404" pitchFamily="49" charset="0"/>
                <a:cs typeface="Courier New" panose="02070309020205020404" pitchFamily="49" charset="0"/>
              </a:rPr>
              <a:t>conf.setJobName</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SampleJobName</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 </a:t>
            </a:r>
            <a:r>
              <a:rPr lang="en-US" sz="1000" dirty="0" smtClean="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Set the output Key type for the Mapper</a:t>
            </a:r>
          </a:p>
          <a:p>
            <a:pPr marL="0" indent="0" fontAlgn="base">
              <a:buNone/>
            </a:pPr>
            <a:r>
              <a:rPr lang="en-US" sz="1000" dirty="0" err="1">
                <a:latin typeface="Courier New" panose="02070309020205020404" pitchFamily="49" charset="0"/>
                <a:cs typeface="Courier New" panose="02070309020205020404" pitchFamily="49" charset="0"/>
              </a:rPr>
              <a:t>conf.setMapOutputKeyClass</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Text.class</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 </a:t>
            </a:r>
            <a:r>
              <a:rPr lang="en-US" sz="1000" dirty="0" smtClean="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Set the output Value type for the Mapper</a:t>
            </a:r>
          </a:p>
          <a:p>
            <a:pPr marL="0" indent="0" fontAlgn="base">
              <a:buNone/>
            </a:pPr>
            <a:r>
              <a:rPr lang="en-US" sz="1000" dirty="0" err="1">
                <a:latin typeface="Courier New" panose="02070309020205020404" pitchFamily="49" charset="0"/>
                <a:cs typeface="Courier New" panose="02070309020205020404" pitchFamily="49" charset="0"/>
              </a:rPr>
              <a:t>conf.setMapOutputValueClass</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IntWritable.class</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 </a:t>
            </a:r>
            <a:r>
              <a:rPr lang="en-US" sz="1000" dirty="0" smtClean="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Set the output Key type for the Reducer</a:t>
            </a:r>
          </a:p>
          <a:p>
            <a:pPr marL="0" indent="0" fontAlgn="base">
              <a:buNone/>
            </a:pPr>
            <a:r>
              <a:rPr lang="en-US" sz="1000" dirty="0" err="1">
                <a:latin typeface="Courier New" panose="02070309020205020404" pitchFamily="49" charset="0"/>
                <a:cs typeface="Courier New" panose="02070309020205020404" pitchFamily="49" charset="0"/>
              </a:rPr>
              <a:t>conf.setOutputKeyClass</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Text.class</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 </a:t>
            </a:r>
            <a:r>
              <a:rPr lang="en-US" sz="1000" dirty="0" smtClean="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Set the output Value type for the Reducer</a:t>
            </a:r>
          </a:p>
          <a:p>
            <a:pPr marL="0" indent="0" fontAlgn="base">
              <a:buNone/>
            </a:pPr>
            <a:r>
              <a:rPr lang="en-US" sz="1000" dirty="0" err="1">
                <a:latin typeface="Courier New" panose="02070309020205020404" pitchFamily="49" charset="0"/>
                <a:cs typeface="Courier New" panose="02070309020205020404" pitchFamily="49" charset="0"/>
              </a:rPr>
              <a:t>conf.setOutputValueClass</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IntWritable.class</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 </a:t>
            </a:r>
            <a:r>
              <a:rPr lang="en-US" sz="1000" dirty="0" smtClean="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Set the Mapper Class</a:t>
            </a:r>
          </a:p>
          <a:p>
            <a:pPr marL="0" indent="0" fontAlgn="base">
              <a:buNone/>
            </a:pPr>
            <a:r>
              <a:rPr lang="en-US" sz="1000" dirty="0" err="1">
                <a:latin typeface="Courier New" panose="02070309020205020404" pitchFamily="49" charset="0"/>
                <a:cs typeface="Courier New" panose="02070309020205020404" pitchFamily="49" charset="0"/>
              </a:rPr>
              <a:t>conf.setMapperClass</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MyMapper.class</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 </a:t>
            </a:r>
            <a:r>
              <a:rPr lang="en-US" sz="1000" dirty="0" smtClean="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Set the Reducer Class</a:t>
            </a:r>
          </a:p>
          <a:p>
            <a:pPr marL="0" indent="0" fontAlgn="base">
              <a:buNone/>
            </a:pPr>
            <a:r>
              <a:rPr lang="en-US" sz="1000" dirty="0" err="1">
                <a:latin typeface="Courier New" panose="02070309020205020404" pitchFamily="49" charset="0"/>
                <a:cs typeface="Courier New" panose="02070309020205020404" pitchFamily="49" charset="0"/>
              </a:rPr>
              <a:t>conf.setReducerClass</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Reducer.class</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 </a:t>
            </a:r>
            <a:r>
              <a:rPr lang="en-US" sz="1000" dirty="0" smtClean="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Set the format of the input that will be provided to the program</a:t>
            </a:r>
          </a:p>
          <a:p>
            <a:pPr marL="0" indent="0" fontAlgn="base">
              <a:buNone/>
            </a:pPr>
            <a:r>
              <a:rPr lang="en-US" sz="1000" dirty="0" err="1">
                <a:latin typeface="Courier New" panose="02070309020205020404" pitchFamily="49" charset="0"/>
                <a:cs typeface="Courier New" panose="02070309020205020404" pitchFamily="49" charset="0"/>
              </a:rPr>
              <a:t>conf.setInputFormat</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TextInputFormat.class</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 </a:t>
            </a:r>
            <a:r>
              <a:rPr lang="en-US" sz="1000" dirty="0" smtClean="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Set the format of the output for the program</a:t>
            </a:r>
          </a:p>
          <a:p>
            <a:pPr marL="0" indent="0" fontAlgn="base">
              <a:buNone/>
            </a:pPr>
            <a:r>
              <a:rPr lang="en-US" sz="1000" dirty="0" err="1">
                <a:latin typeface="Courier New" panose="02070309020205020404" pitchFamily="49" charset="0"/>
                <a:cs typeface="Courier New" panose="02070309020205020404" pitchFamily="49" charset="0"/>
              </a:rPr>
              <a:t>conf.setOutputFormat</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TextOutputFormat.class</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 </a:t>
            </a:r>
            <a:r>
              <a:rPr lang="en-US" sz="1000" dirty="0" smtClean="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Set the location from where the Mapper will read the input</a:t>
            </a:r>
          </a:p>
          <a:p>
            <a:pPr marL="0" indent="0" fontAlgn="base">
              <a:buNone/>
            </a:pPr>
            <a:r>
              <a:rPr lang="en-US" sz="1000" dirty="0" err="1">
                <a:latin typeface="Courier New" panose="02070309020205020404" pitchFamily="49" charset="0"/>
                <a:cs typeface="Courier New" panose="02070309020205020404" pitchFamily="49" charset="0"/>
              </a:rPr>
              <a:t>FileInputFormat.setInputPaths</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conf</a:t>
            </a:r>
            <a:r>
              <a:rPr lang="en-US" sz="1000" dirty="0">
                <a:latin typeface="Courier New" panose="02070309020205020404" pitchFamily="49" charset="0"/>
                <a:cs typeface="Courier New" panose="02070309020205020404" pitchFamily="49" charset="0"/>
              </a:rPr>
              <a:t>, new Path(</a:t>
            </a:r>
            <a:r>
              <a:rPr lang="en-US" sz="1000" dirty="0" err="1">
                <a:latin typeface="Courier New" panose="02070309020205020404" pitchFamily="49" charset="0"/>
                <a:cs typeface="Courier New" panose="02070309020205020404" pitchFamily="49" charset="0"/>
              </a:rPr>
              <a:t>args</a:t>
            </a:r>
            <a:r>
              <a:rPr lang="en-US" sz="1000" dirty="0">
                <a:latin typeface="Courier New" panose="02070309020205020404" pitchFamily="49" charset="0"/>
                <a:cs typeface="Courier New" panose="02070309020205020404" pitchFamily="49" charset="0"/>
              </a:rPr>
              <a:t>[0]));</a:t>
            </a:r>
          </a:p>
          <a:p>
            <a:pPr marL="0" indent="0" fontAlgn="base">
              <a:buNone/>
            </a:pPr>
            <a:r>
              <a:rPr lang="en-US" sz="1000" dirty="0">
                <a:latin typeface="Courier New" panose="02070309020205020404" pitchFamily="49" charset="0"/>
                <a:cs typeface="Courier New" panose="02070309020205020404" pitchFamily="49" charset="0"/>
              </a:rPr>
              <a:t> </a:t>
            </a:r>
            <a:r>
              <a:rPr lang="en-US" sz="1000" dirty="0" smtClean="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Set the location where the Reducer will write the output</a:t>
            </a:r>
          </a:p>
          <a:p>
            <a:pPr marL="0" indent="0" fontAlgn="base">
              <a:buNone/>
            </a:pPr>
            <a:r>
              <a:rPr lang="en-US" sz="1000" dirty="0" err="1">
                <a:latin typeface="Courier New" panose="02070309020205020404" pitchFamily="49" charset="0"/>
                <a:cs typeface="Courier New" panose="02070309020205020404" pitchFamily="49" charset="0"/>
              </a:rPr>
              <a:t>FileOutputFormat.setOutputPath</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conf</a:t>
            </a:r>
            <a:r>
              <a:rPr lang="en-US" sz="1000" dirty="0">
                <a:latin typeface="Courier New" panose="02070309020205020404" pitchFamily="49" charset="0"/>
                <a:cs typeface="Courier New" panose="02070309020205020404" pitchFamily="49" charset="0"/>
              </a:rPr>
              <a:t>, new Path(</a:t>
            </a:r>
            <a:r>
              <a:rPr lang="en-US" sz="1000" dirty="0" err="1">
                <a:latin typeface="Courier New" panose="02070309020205020404" pitchFamily="49" charset="0"/>
                <a:cs typeface="Courier New" panose="02070309020205020404" pitchFamily="49" charset="0"/>
              </a:rPr>
              <a:t>args</a:t>
            </a:r>
            <a:r>
              <a:rPr lang="en-US" sz="1000" dirty="0">
                <a:latin typeface="Courier New" panose="02070309020205020404" pitchFamily="49" charset="0"/>
                <a:cs typeface="Courier New" panose="02070309020205020404" pitchFamily="49" charset="0"/>
              </a:rPr>
              <a:t>[1]));</a:t>
            </a:r>
          </a:p>
          <a:p>
            <a:pPr marL="0" indent="0" fontAlgn="base">
              <a:buNone/>
            </a:pPr>
            <a:r>
              <a:rPr lang="en-US" sz="1000" dirty="0">
                <a:latin typeface="Courier New" panose="02070309020205020404" pitchFamily="49" charset="0"/>
                <a:cs typeface="Courier New" panose="02070309020205020404" pitchFamily="49" charset="0"/>
              </a:rPr>
              <a:t> </a:t>
            </a:r>
          </a:p>
          <a:p>
            <a:pPr marL="0" indent="0" fontAlgn="base">
              <a:buNone/>
            </a:pPr>
            <a:r>
              <a:rPr lang="en-US" sz="1000" dirty="0">
                <a:latin typeface="Courier New" panose="02070309020205020404" pitchFamily="49" charset="0"/>
                <a:cs typeface="Courier New" panose="02070309020205020404" pitchFamily="49" charset="0"/>
              </a:rPr>
              <a:t>// Run the job on the cluster</a:t>
            </a:r>
          </a:p>
          <a:p>
            <a:pPr marL="0" indent="0" fontAlgn="base">
              <a:buNone/>
            </a:pPr>
            <a:r>
              <a:rPr lang="en-US" sz="1000" dirty="0" err="1">
                <a:latin typeface="Courier New" panose="02070309020205020404" pitchFamily="49" charset="0"/>
                <a:cs typeface="Courier New" panose="02070309020205020404" pitchFamily="49" charset="0"/>
              </a:rPr>
              <a:t>JobClient.runJob</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conf</a:t>
            </a: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a:t>
            </a:r>
          </a:p>
          <a:p>
            <a:pPr marL="0" indent="0" fontAlgn="base">
              <a:buNone/>
            </a:pPr>
            <a:r>
              <a:rPr lang="en-US" sz="1000" dirty="0">
                <a:latin typeface="Courier New" panose="02070309020205020404" pitchFamily="49" charset="0"/>
                <a:cs typeface="Courier New" panose="02070309020205020404" pitchFamily="49" charset="0"/>
              </a:rPr>
              <a:t>}</a:t>
            </a:r>
          </a:p>
          <a:p>
            <a:pPr marL="0" indent="0">
              <a:buNone/>
            </a:pPr>
            <a:endParaRPr lang="en-US" sz="500" dirty="0">
              <a:latin typeface="Courier New" panose="02070309020205020404" pitchFamily="49" charset="0"/>
              <a:cs typeface="Courier New" panose="02070309020205020404" pitchFamily="49" charset="0"/>
            </a:endParaRPr>
          </a:p>
        </p:txBody>
      </p:sp>
      <p:sp>
        <p:nvSpPr>
          <p:cNvPr id="2" name="Footer Placeholder 1"/>
          <p:cNvSpPr>
            <a:spLocks noGrp="1"/>
          </p:cNvSpPr>
          <p:nvPr>
            <p:ph type="ftr" sz="quarter" idx="11"/>
          </p:nvPr>
        </p:nvSpPr>
        <p:spPr/>
        <p:txBody>
          <a:bodyPr/>
          <a:lstStyle/>
          <a:p>
            <a:r>
              <a:rPr lang="en-US" smtClean="0"/>
              <a:t>AXP Internal</a:t>
            </a:r>
            <a:endParaRPr lang="en-US"/>
          </a:p>
        </p:txBody>
      </p:sp>
      <p:sp>
        <p:nvSpPr>
          <p:cNvPr id="4" name="Date Placeholder 3"/>
          <p:cNvSpPr>
            <a:spLocks noGrp="1"/>
          </p:cNvSpPr>
          <p:nvPr>
            <p:ph type="dt" sz="half" idx="10"/>
          </p:nvPr>
        </p:nvSpPr>
        <p:spPr/>
        <p:txBody>
          <a:bodyPr/>
          <a:lstStyle/>
          <a:p>
            <a:fld id="{D51C8E3A-CAE5-449B-8211-70D606E59EF2}" type="datetime5">
              <a:rPr lang="en-US" smtClean="0"/>
              <a:t>15-Aug-16</a:t>
            </a:fld>
            <a:endParaRPr lang="en-US"/>
          </a:p>
        </p:txBody>
      </p:sp>
      <p:sp>
        <p:nvSpPr>
          <p:cNvPr id="5" name="Slide Number Placeholder 4"/>
          <p:cNvSpPr>
            <a:spLocks noGrp="1"/>
          </p:cNvSpPr>
          <p:nvPr>
            <p:ph type="sldNum" sz="quarter" idx="12"/>
          </p:nvPr>
        </p:nvSpPr>
        <p:spPr/>
        <p:txBody>
          <a:bodyPr/>
          <a:lstStyle/>
          <a:p>
            <a:fld id="{B500B02B-286B-4C88-AC97-658498CB3C15}" type="slidenum">
              <a:rPr lang="en-US" smtClean="0"/>
              <a:t>19</a:t>
            </a:fld>
            <a:endParaRPr lang="en-US"/>
          </a:p>
        </p:txBody>
      </p:sp>
    </p:spTree>
    <p:extLst>
      <p:ext uri="{BB962C8B-B14F-4D97-AF65-F5344CB8AC3E}">
        <p14:creationId xmlns:p14="http://schemas.microsoft.com/office/powerpoint/2010/main" val="19499230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Word counting using </a:t>
            </a:r>
            <a:r>
              <a:rPr lang="en-US" sz="3200" b="1" dirty="0" err="1" smtClean="0"/>
              <a:t>MapReduce</a:t>
            </a:r>
            <a:r>
              <a:rPr lang="en-US" sz="3200" b="1" dirty="0" smtClean="0"/>
              <a:t> - </a:t>
            </a:r>
            <a:r>
              <a:rPr lang="en-US" sz="3200" dirty="0" err="1"/>
              <a:t>Hello,World</a:t>
            </a:r>
            <a:r>
              <a:rPr lang="en-US" sz="3200" dirty="0"/>
              <a:t> program for </a:t>
            </a:r>
            <a:r>
              <a:rPr lang="en-US" sz="3200" dirty="0" err="1"/>
              <a:t>MapReduce</a:t>
            </a:r>
            <a:endParaRPr lang="en-US" sz="3200" dirty="0"/>
          </a:p>
        </p:txBody>
      </p:sp>
      <p:sp>
        <p:nvSpPr>
          <p:cNvPr id="3" name="Content Placeholder 2"/>
          <p:cNvSpPr>
            <a:spLocks noGrp="1"/>
          </p:cNvSpPr>
          <p:nvPr>
            <p:ph idx="1"/>
          </p:nvPr>
        </p:nvSpPr>
        <p:spPr/>
        <p:txBody>
          <a:bodyPr/>
          <a:lstStyle/>
          <a:p>
            <a:r>
              <a:rPr lang="en-US" dirty="0"/>
              <a:t>For this example let us consider the following input</a:t>
            </a:r>
            <a:r>
              <a:rPr lang="en-US" dirty="0" smtClean="0"/>
              <a:t>:</a:t>
            </a:r>
          </a:p>
          <a:p>
            <a:r>
              <a:rPr lang="en-US" dirty="0"/>
              <a:t>she sells sea shells on the sea </a:t>
            </a:r>
            <a:r>
              <a:rPr lang="en-US" dirty="0" smtClean="0"/>
              <a:t>shore</a:t>
            </a:r>
          </a:p>
          <a:p>
            <a:r>
              <a:rPr lang="en-US" b="1" dirty="0"/>
              <a:t>Mapper for Word </a:t>
            </a:r>
            <a:r>
              <a:rPr lang="en-US" b="1" dirty="0" smtClean="0"/>
              <a:t>Count</a:t>
            </a:r>
          </a:p>
          <a:p>
            <a:r>
              <a:rPr lang="en-US" b="1" dirty="0"/>
              <a:t>Reducer for Word </a:t>
            </a:r>
            <a:r>
              <a:rPr lang="en-US" b="1" dirty="0" smtClean="0"/>
              <a:t>Count</a:t>
            </a:r>
          </a:p>
          <a:p>
            <a:r>
              <a:rPr lang="en-US" b="1" dirty="0"/>
              <a:t>Driver for Word Count</a:t>
            </a:r>
            <a:endParaRPr lang="en-US" dirty="0"/>
          </a:p>
        </p:txBody>
      </p:sp>
      <p:sp>
        <p:nvSpPr>
          <p:cNvPr id="4" name="Footer Placeholder 3"/>
          <p:cNvSpPr>
            <a:spLocks noGrp="1"/>
          </p:cNvSpPr>
          <p:nvPr>
            <p:ph type="ftr" sz="quarter" idx="11"/>
          </p:nvPr>
        </p:nvSpPr>
        <p:spPr/>
        <p:txBody>
          <a:bodyPr/>
          <a:lstStyle/>
          <a:p>
            <a:r>
              <a:rPr lang="en-US" smtClean="0"/>
              <a:t>AXP Internal</a:t>
            </a:r>
            <a:endParaRPr lang="en-US"/>
          </a:p>
        </p:txBody>
      </p:sp>
      <p:sp>
        <p:nvSpPr>
          <p:cNvPr id="5" name="Date Placeholder 4"/>
          <p:cNvSpPr>
            <a:spLocks noGrp="1"/>
          </p:cNvSpPr>
          <p:nvPr>
            <p:ph type="dt" sz="half" idx="10"/>
          </p:nvPr>
        </p:nvSpPr>
        <p:spPr/>
        <p:txBody>
          <a:bodyPr/>
          <a:lstStyle/>
          <a:p>
            <a:fld id="{F42B67B7-C6DC-41CB-A830-CE1E15926E4E}" type="datetime5">
              <a:rPr lang="en-US" smtClean="0"/>
              <a:t>15-Aug-16</a:t>
            </a:fld>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20</a:t>
            </a:fld>
            <a:endParaRPr lang="en-US"/>
          </a:p>
        </p:txBody>
      </p:sp>
    </p:spTree>
    <p:extLst>
      <p:ext uri="{BB962C8B-B14F-4D97-AF65-F5344CB8AC3E}">
        <p14:creationId xmlns:p14="http://schemas.microsoft.com/office/powerpoint/2010/main" val="20299512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62500" lnSpcReduction="20000"/>
          </a:bodyPr>
          <a:lstStyle/>
          <a:p>
            <a:pPr marL="0" indent="0" fontAlgn="base">
              <a:buNone/>
            </a:pPr>
            <a:r>
              <a:rPr lang="en-US" dirty="0"/>
              <a:t>package </a:t>
            </a:r>
            <a:r>
              <a:rPr lang="en-US" dirty="0" err="1"/>
              <a:t>wordcount</a:t>
            </a:r>
            <a:r>
              <a:rPr lang="en-US" dirty="0"/>
              <a:t>;</a:t>
            </a:r>
          </a:p>
          <a:p>
            <a:pPr marL="0" indent="0" fontAlgn="base">
              <a:buNone/>
            </a:pPr>
            <a:r>
              <a:rPr lang="en-US" dirty="0"/>
              <a:t> </a:t>
            </a:r>
          </a:p>
          <a:p>
            <a:pPr marL="0" indent="0" fontAlgn="base">
              <a:buNone/>
            </a:pPr>
            <a:r>
              <a:rPr lang="en-US" dirty="0"/>
              <a:t>import java.io.*;</a:t>
            </a:r>
          </a:p>
          <a:p>
            <a:pPr marL="0" indent="0" fontAlgn="base">
              <a:buNone/>
            </a:pPr>
            <a:r>
              <a:rPr lang="en-US" dirty="0"/>
              <a:t>import </a:t>
            </a:r>
            <a:r>
              <a:rPr lang="en-US" dirty="0" err="1"/>
              <a:t>java.util</a:t>
            </a:r>
            <a:r>
              <a:rPr lang="en-US" dirty="0"/>
              <a:t>.*;</a:t>
            </a:r>
          </a:p>
          <a:p>
            <a:pPr marL="0" indent="0" fontAlgn="base">
              <a:buNone/>
            </a:pPr>
            <a:r>
              <a:rPr lang="en-US" dirty="0"/>
              <a:t> </a:t>
            </a:r>
          </a:p>
          <a:p>
            <a:pPr marL="0" indent="0" fontAlgn="base">
              <a:buNone/>
            </a:pPr>
            <a:r>
              <a:rPr lang="en-US" dirty="0"/>
              <a:t>import org.apache.hadoop.io.*;</a:t>
            </a:r>
          </a:p>
          <a:p>
            <a:pPr marL="0" indent="0" fontAlgn="base">
              <a:buNone/>
            </a:pPr>
            <a:r>
              <a:rPr lang="en-US" dirty="0"/>
              <a:t>import </a:t>
            </a:r>
            <a:r>
              <a:rPr lang="en-US" dirty="0" err="1"/>
              <a:t>org.apache.hadoop.mapred</a:t>
            </a:r>
            <a:r>
              <a:rPr lang="en-US" dirty="0"/>
              <a:t>.*;</a:t>
            </a:r>
          </a:p>
          <a:p>
            <a:pPr marL="0" indent="0" fontAlgn="base">
              <a:buNone/>
            </a:pPr>
            <a:r>
              <a:rPr lang="en-US" dirty="0"/>
              <a:t> </a:t>
            </a:r>
          </a:p>
          <a:p>
            <a:pPr marL="0" indent="0" fontAlgn="base">
              <a:buNone/>
            </a:pPr>
            <a:r>
              <a:rPr lang="en-US" dirty="0"/>
              <a:t>public class </a:t>
            </a:r>
            <a:r>
              <a:rPr lang="en-US" dirty="0" err="1"/>
              <a:t>WordCountMapper</a:t>
            </a:r>
            <a:r>
              <a:rPr lang="en-US" dirty="0"/>
              <a:t> extends </a:t>
            </a:r>
            <a:r>
              <a:rPr lang="en-US" dirty="0" err="1"/>
              <a:t>MapReduceBase</a:t>
            </a:r>
            <a:r>
              <a:rPr lang="en-US" dirty="0"/>
              <a:t> implements Mapper&lt;</a:t>
            </a:r>
            <a:r>
              <a:rPr lang="en-US" dirty="0" err="1"/>
              <a:t>LongWritable</a:t>
            </a:r>
            <a:r>
              <a:rPr lang="en-US" dirty="0"/>
              <a:t>, Text, Text, </a:t>
            </a:r>
            <a:r>
              <a:rPr lang="en-US" dirty="0" err="1"/>
              <a:t>IntWritable</a:t>
            </a:r>
            <a:r>
              <a:rPr lang="en-US" dirty="0"/>
              <a:t>&gt;{</a:t>
            </a:r>
          </a:p>
          <a:p>
            <a:pPr marL="0" indent="0" fontAlgn="base">
              <a:buNone/>
            </a:pPr>
            <a:r>
              <a:rPr lang="en-US" dirty="0"/>
              <a:t>    public void map(</a:t>
            </a:r>
            <a:r>
              <a:rPr lang="en-US" dirty="0" err="1"/>
              <a:t>LongWritable</a:t>
            </a:r>
            <a:r>
              <a:rPr lang="en-US" dirty="0"/>
              <a:t> key, Text value, </a:t>
            </a:r>
            <a:r>
              <a:rPr lang="en-US" dirty="0" smtClean="0"/>
              <a:t>Context Context) </a:t>
            </a:r>
            <a:r>
              <a:rPr lang="en-US" dirty="0"/>
              <a:t>throws </a:t>
            </a:r>
            <a:r>
              <a:rPr lang="en-US" dirty="0" err="1"/>
              <a:t>IOException</a:t>
            </a:r>
            <a:r>
              <a:rPr lang="en-US" dirty="0"/>
              <a:t> {</a:t>
            </a:r>
          </a:p>
          <a:p>
            <a:pPr marL="0" indent="0" fontAlgn="base">
              <a:buNone/>
            </a:pPr>
            <a:r>
              <a:rPr lang="en-US" dirty="0"/>
              <a:t>        </a:t>
            </a:r>
            <a:r>
              <a:rPr lang="en-US" dirty="0" err="1"/>
              <a:t>StringTokenizer</a:t>
            </a:r>
            <a:r>
              <a:rPr lang="en-US" dirty="0"/>
              <a:t> </a:t>
            </a:r>
            <a:r>
              <a:rPr lang="en-US" dirty="0" err="1"/>
              <a:t>st</a:t>
            </a:r>
            <a:r>
              <a:rPr lang="en-US" dirty="0"/>
              <a:t> = new </a:t>
            </a:r>
            <a:r>
              <a:rPr lang="en-US" dirty="0" err="1"/>
              <a:t>StringTokenizer</a:t>
            </a:r>
            <a:r>
              <a:rPr lang="en-US" dirty="0"/>
              <a:t>(</a:t>
            </a:r>
            <a:r>
              <a:rPr lang="en-US" dirty="0" err="1"/>
              <a:t>value.toString</a:t>
            </a:r>
            <a:r>
              <a:rPr lang="en-US" dirty="0"/>
              <a:t>().</a:t>
            </a:r>
            <a:r>
              <a:rPr lang="en-US" dirty="0" err="1"/>
              <a:t>toLowerCase</a:t>
            </a:r>
            <a:r>
              <a:rPr lang="en-US" dirty="0"/>
              <a:t>());</a:t>
            </a:r>
          </a:p>
          <a:p>
            <a:pPr marL="0" indent="0" fontAlgn="base">
              <a:buNone/>
            </a:pPr>
            <a:r>
              <a:rPr lang="en-US" dirty="0"/>
              <a:t>        while(</a:t>
            </a:r>
            <a:r>
              <a:rPr lang="en-US" dirty="0" err="1"/>
              <a:t>st.hasMoreTokens</a:t>
            </a:r>
            <a:r>
              <a:rPr lang="en-US" dirty="0"/>
              <a:t>()) {</a:t>
            </a:r>
          </a:p>
          <a:p>
            <a:pPr marL="0" indent="0" fontAlgn="base">
              <a:buNone/>
            </a:pPr>
            <a:r>
              <a:rPr lang="en-US" dirty="0"/>
              <a:t>            </a:t>
            </a:r>
            <a:r>
              <a:rPr lang="en-US" dirty="0" err="1"/>
              <a:t>output.collect</a:t>
            </a:r>
            <a:r>
              <a:rPr lang="en-US" dirty="0"/>
              <a:t>(new Text(</a:t>
            </a:r>
            <a:r>
              <a:rPr lang="en-US" dirty="0" err="1"/>
              <a:t>st.nextToken</a:t>
            </a:r>
            <a:r>
              <a:rPr lang="en-US" dirty="0"/>
              <a:t>()), new </a:t>
            </a:r>
            <a:r>
              <a:rPr lang="en-US" dirty="0" err="1"/>
              <a:t>IntWritable</a:t>
            </a:r>
            <a:r>
              <a:rPr lang="en-US" dirty="0"/>
              <a:t>(1));</a:t>
            </a:r>
          </a:p>
          <a:p>
            <a:pPr marL="0" indent="0" fontAlgn="base">
              <a:buNone/>
            </a:pPr>
            <a:r>
              <a:rPr lang="en-US" dirty="0"/>
              <a:t>        }</a:t>
            </a:r>
          </a:p>
          <a:p>
            <a:pPr marL="0" indent="0" fontAlgn="base">
              <a:buNone/>
            </a:pPr>
            <a:r>
              <a:rPr lang="en-US" dirty="0"/>
              <a:t>    }</a:t>
            </a:r>
          </a:p>
          <a:p>
            <a:pPr marL="0" indent="0" fontAlgn="base">
              <a:buNone/>
            </a:pPr>
            <a:r>
              <a:rPr lang="en-US" dirty="0"/>
              <a:t>}</a:t>
            </a:r>
          </a:p>
          <a:p>
            <a:pPr marL="0" indent="0" fontAlgn="base">
              <a:buNone/>
            </a:pPr>
            <a:endParaRPr lang="en-US" dirty="0"/>
          </a:p>
        </p:txBody>
      </p:sp>
      <p:sp>
        <p:nvSpPr>
          <p:cNvPr id="2" name="Footer Placeholder 1"/>
          <p:cNvSpPr>
            <a:spLocks noGrp="1"/>
          </p:cNvSpPr>
          <p:nvPr>
            <p:ph type="ftr" sz="quarter" idx="11"/>
          </p:nvPr>
        </p:nvSpPr>
        <p:spPr/>
        <p:txBody>
          <a:bodyPr/>
          <a:lstStyle/>
          <a:p>
            <a:r>
              <a:rPr lang="en-US" smtClean="0"/>
              <a:t>AXP Internal</a:t>
            </a:r>
            <a:endParaRPr lang="en-US"/>
          </a:p>
        </p:txBody>
      </p:sp>
      <p:sp>
        <p:nvSpPr>
          <p:cNvPr id="4" name="Date Placeholder 3"/>
          <p:cNvSpPr>
            <a:spLocks noGrp="1"/>
          </p:cNvSpPr>
          <p:nvPr>
            <p:ph type="dt" sz="half" idx="10"/>
          </p:nvPr>
        </p:nvSpPr>
        <p:spPr/>
        <p:txBody>
          <a:bodyPr/>
          <a:lstStyle/>
          <a:p>
            <a:fld id="{F944DAAA-F728-4808-9004-8B0C6EF99FEE}" type="datetime5">
              <a:rPr lang="en-US" smtClean="0"/>
              <a:t>15-Aug-16</a:t>
            </a:fld>
            <a:endParaRPr lang="en-US"/>
          </a:p>
        </p:txBody>
      </p:sp>
      <p:sp>
        <p:nvSpPr>
          <p:cNvPr id="5" name="Slide Number Placeholder 4"/>
          <p:cNvSpPr>
            <a:spLocks noGrp="1"/>
          </p:cNvSpPr>
          <p:nvPr>
            <p:ph type="sldNum" sz="quarter" idx="12"/>
          </p:nvPr>
        </p:nvSpPr>
        <p:spPr/>
        <p:txBody>
          <a:bodyPr/>
          <a:lstStyle/>
          <a:p>
            <a:fld id="{B500B02B-286B-4C88-AC97-658498CB3C15}" type="slidenum">
              <a:rPr lang="en-US" smtClean="0"/>
              <a:t>21</a:t>
            </a:fld>
            <a:endParaRPr lang="en-US"/>
          </a:p>
        </p:txBody>
      </p:sp>
    </p:spTree>
    <p:extLst>
      <p:ext uri="{BB962C8B-B14F-4D97-AF65-F5344CB8AC3E}">
        <p14:creationId xmlns:p14="http://schemas.microsoft.com/office/powerpoint/2010/main" val="422514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o/p</a:t>
            </a:r>
            <a:endParaRPr lang="en-US" dirty="0"/>
          </a:p>
        </p:txBody>
      </p:sp>
      <p:sp>
        <p:nvSpPr>
          <p:cNvPr id="3" name="Content Placeholder 2"/>
          <p:cNvSpPr>
            <a:spLocks noGrp="1"/>
          </p:cNvSpPr>
          <p:nvPr>
            <p:ph idx="1"/>
          </p:nvPr>
        </p:nvSpPr>
        <p:spPr/>
        <p:txBody>
          <a:bodyPr>
            <a:normAutofit fontScale="77500" lnSpcReduction="20000"/>
          </a:bodyPr>
          <a:lstStyle/>
          <a:p>
            <a:r>
              <a:rPr lang="en-US" dirty="0"/>
              <a:t>When the Mapper receives this line each and every word of the sentence is broken down into &lt;key, value&gt; pairs.</a:t>
            </a:r>
          </a:p>
          <a:p>
            <a:r>
              <a:rPr lang="en-US" dirty="0"/>
              <a:t>So, for the </a:t>
            </a:r>
            <a:r>
              <a:rPr lang="en-US" dirty="0" smtClean="0"/>
              <a:t>input </a:t>
            </a:r>
            <a:r>
              <a:rPr lang="en-US" dirty="0"/>
              <a:t>line the following &lt;key, value&gt; pairs will be generated</a:t>
            </a:r>
            <a:r>
              <a:rPr lang="en-US" dirty="0" smtClean="0"/>
              <a:t>:</a:t>
            </a:r>
          </a:p>
          <a:p>
            <a:pPr marL="0" indent="0" fontAlgn="base">
              <a:buNone/>
            </a:pPr>
            <a:r>
              <a:rPr lang="en-US" dirty="0"/>
              <a:t>&lt;she,1&gt;</a:t>
            </a:r>
          </a:p>
          <a:p>
            <a:pPr marL="0" indent="0" fontAlgn="base">
              <a:buNone/>
            </a:pPr>
            <a:r>
              <a:rPr lang="en-US" dirty="0"/>
              <a:t>&lt;sells,1&gt;</a:t>
            </a:r>
          </a:p>
          <a:p>
            <a:pPr marL="0" indent="0" fontAlgn="base">
              <a:buNone/>
            </a:pPr>
            <a:r>
              <a:rPr lang="en-US" dirty="0"/>
              <a:t>&lt;sea,1&gt;</a:t>
            </a:r>
          </a:p>
          <a:p>
            <a:pPr marL="0" indent="0" fontAlgn="base">
              <a:buNone/>
            </a:pPr>
            <a:r>
              <a:rPr lang="en-US" dirty="0"/>
              <a:t>&lt;shells,1&gt;</a:t>
            </a:r>
          </a:p>
          <a:p>
            <a:pPr marL="0" indent="0" fontAlgn="base">
              <a:buNone/>
            </a:pPr>
            <a:r>
              <a:rPr lang="en-US" dirty="0"/>
              <a:t>&lt;on,1&gt;</a:t>
            </a:r>
          </a:p>
          <a:p>
            <a:pPr marL="0" indent="0" fontAlgn="base">
              <a:buNone/>
            </a:pPr>
            <a:r>
              <a:rPr lang="en-US" dirty="0"/>
              <a:t>&lt;the,1&gt;</a:t>
            </a:r>
          </a:p>
          <a:p>
            <a:pPr marL="0" indent="0" fontAlgn="base">
              <a:buNone/>
            </a:pPr>
            <a:r>
              <a:rPr lang="en-US" dirty="0"/>
              <a:t>&lt;sea,1&gt;</a:t>
            </a:r>
          </a:p>
          <a:p>
            <a:pPr marL="0" indent="0" fontAlgn="base">
              <a:buNone/>
            </a:pPr>
            <a:r>
              <a:rPr lang="en-US" dirty="0"/>
              <a:t>&lt;shore,1&gt;</a:t>
            </a:r>
          </a:p>
          <a:p>
            <a:endParaRPr lang="en-US" dirty="0"/>
          </a:p>
          <a:p>
            <a:endParaRPr lang="en-US" dirty="0"/>
          </a:p>
        </p:txBody>
      </p:sp>
      <p:sp>
        <p:nvSpPr>
          <p:cNvPr id="4" name="Footer Placeholder 3"/>
          <p:cNvSpPr>
            <a:spLocks noGrp="1"/>
          </p:cNvSpPr>
          <p:nvPr>
            <p:ph type="ftr" sz="quarter" idx="11"/>
          </p:nvPr>
        </p:nvSpPr>
        <p:spPr/>
        <p:txBody>
          <a:bodyPr/>
          <a:lstStyle/>
          <a:p>
            <a:r>
              <a:rPr lang="en-US" smtClean="0"/>
              <a:t>AXP Internal</a:t>
            </a:r>
            <a:endParaRPr lang="en-US"/>
          </a:p>
        </p:txBody>
      </p:sp>
      <p:sp>
        <p:nvSpPr>
          <p:cNvPr id="5" name="Date Placeholder 4"/>
          <p:cNvSpPr>
            <a:spLocks noGrp="1"/>
          </p:cNvSpPr>
          <p:nvPr>
            <p:ph type="dt" sz="half" idx="10"/>
          </p:nvPr>
        </p:nvSpPr>
        <p:spPr/>
        <p:txBody>
          <a:bodyPr/>
          <a:lstStyle/>
          <a:p>
            <a:fld id="{5CF39F90-80F0-4B22-896B-F5B333D1A0E4}" type="datetime5">
              <a:rPr lang="en-US" smtClean="0"/>
              <a:t>15-Aug-16</a:t>
            </a:fld>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22</a:t>
            </a:fld>
            <a:endParaRPr lang="en-US"/>
          </a:p>
        </p:txBody>
      </p:sp>
    </p:spTree>
    <p:extLst>
      <p:ext uri="{BB962C8B-B14F-4D97-AF65-F5344CB8AC3E}">
        <p14:creationId xmlns:p14="http://schemas.microsoft.com/office/powerpoint/2010/main" val="23833181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62500" lnSpcReduction="20000"/>
          </a:bodyPr>
          <a:lstStyle/>
          <a:p>
            <a:pPr marL="0" indent="0" fontAlgn="base">
              <a:buNone/>
            </a:pPr>
            <a:r>
              <a:rPr lang="en-US" dirty="0"/>
              <a:t>package </a:t>
            </a:r>
            <a:r>
              <a:rPr lang="en-US" dirty="0" err="1"/>
              <a:t>wordcount</a:t>
            </a:r>
            <a:r>
              <a:rPr lang="en-US" dirty="0"/>
              <a:t>;</a:t>
            </a:r>
          </a:p>
          <a:p>
            <a:pPr marL="0" indent="0" fontAlgn="base">
              <a:buNone/>
            </a:pPr>
            <a:r>
              <a:rPr lang="en-US" dirty="0"/>
              <a:t> </a:t>
            </a:r>
          </a:p>
          <a:p>
            <a:pPr marL="0" indent="0" fontAlgn="base">
              <a:buNone/>
            </a:pPr>
            <a:r>
              <a:rPr lang="en-US" dirty="0"/>
              <a:t>import java.io.*;</a:t>
            </a:r>
          </a:p>
          <a:p>
            <a:pPr marL="0" indent="0" fontAlgn="base">
              <a:buNone/>
            </a:pPr>
            <a:r>
              <a:rPr lang="en-US" dirty="0"/>
              <a:t>import </a:t>
            </a:r>
            <a:r>
              <a:rPr lang="en-US" dirty="0" err="1"/>
              <a:t>java.util</a:t>
            </a:r>
            <a:r>
              <a:rPr lang="en-US" dirty="0"/>
              <a:t>.*;</a:t>
            </a:r>
          </a:p>
          <a:p>
            <a:pPr marL="0" indent="0" fontAlgn="base">
              <a:buNone/>
            </a:pPr>
            <a:r>
              <a:rPr lang="en-US" dirty="0"/>
              <a:t>import org.apache.hadoop.io.*;</a:t>
            </a:r>
          </a:p>
          <a:p>
            <a:pPr marL="0" indent="0" fontAlgn="base">
              <a:buNone/>
            </a:pPr>
            <a:r>
              <a:rPr lang="en-US" dirty="0"/>
              <a:t>import </a:t>
            </a:r>
            <a:r>
              <a:rPr lang="en-US" dirty="0" err="1"/>
              <a:t>org.apache.hadoop.mapred</a:t>
            </a:r>
            <a:r>
              <a:rPr lang="en-US" dirty="0"/>
              <a:t>.*;</a:t>
            </a:r>
          </a:p>
          <a:p>
            <a:pPr marL="0" indent="0" fontAlgn="base">
              <a:buNone/>
            </a:pPr>
            <a:r>
              <a:rPr lang="en-US" dirty="0"/>
              <a:t> </a:t>
            </a:r>
          </a:p>
          <a:p>
            <a:pPr marL="0" indent="0" fontAlgn="base">
              <a:buNone/>
            </a:pPr>
            <a:r>
              <a:rPr lang="en-US" dirty="0"/>
              <a:t>public class </a:t>
            </a:r>
            <a:r>
              <a:rPr lang="en-US" dirty="0" err="1"/>
              <a:t>WordCountReducer</a:t>
            </a:r>
            <a:r>
              <a:rPr lang="en-US" dirty="0"/>
              <a:t> extends </a:t>
            </a:r>
            <a:r>
              <a:rPr lang="en-US" dirty="0" err="1"/>
              <a:t>MapReduceBase</a:t>
            </a:r>
            <a:r>
              <a:rPr lang="en-US" dirty="0"/>
              <a:t> implements Reducer&lt;Text, </a:t>
            </a:r>
            <a:r>
              <a:rPr lang="en-US" dirty="0" err="1"/>
              <a:t>IntWritable</a:t>
            </a:r>
            <a:r>
              <a:rPr lang="en-US" dirty="0"/>
              <a:t>, Text, </a:t>
            </a:r>
            <a:r>
              <a:rPr lang="en-US" dirty="0" err="1"/>
              <a:t>IntWritable</a:t>
            </a:r>
            <a:r>
              <a:rPr lang="en-US" dirty="0"/>
              <a:t>&gt;{</a:t>
            </a:r>
          </a:p>
          <a:p>
            <a:pPr marL="0" indent="0" fontAlgn="base">
              <a:buNone/>
            </a:pPr>
            <a:r>
              <a:rPr lang="en-US" dirty="0"/>
              <a:t>    public void reduce(Text key, Iterator&lt;</a:t>
            </a:r>
            <a:r>
              <a:rPr lang="en-US" dirty="0" err="1"/>
              <a:t>IntWritable</a:t>
            </a:r>
            <a:r>
              <a:rPr lang="en-US" dirty="0"/>
              <a:t>&gt; values, </a:t>
            </a:r>
            <a:r>
              <a:rPr lang="en-US" dirty="0" smtClean="0"/>
              <a:t>Context Context) </a:t>
            </a:r>
            <a:r>
              <a:rPr lang="en-US" dirty="0"/>
              <a:t>throws </a:t>
            </a:r>
            <a:r>
              <a:rPr lang="en-US" dirty="0" err="1"/>
              <a:t>IOException</a:t>
            </a:r>
            <a:r>
              <a:rPr lang="en-US" dirty="0"/>
              <a:t> {</a:t>
            </a:r>
          </a:p>
          <a:p>
            <a:pPr marL="0" indent="0" fontAlgn="base">
              <a:buNone/>
            </a:pPr>
            <a:r>
              <a:rPr lang="en-US" dirty="0"/>
              <a:t>        </a:t>
            </a:r>
            <a:r>
              <a:rPr lang="en-US" dirty="0" err="1"/>
              <a:t>int</a:t>
            </a:r>
            <a:r>
              <a:rPr lang="en-US" dirty="0"/>
              <a:t> count = 0;</a:t>
            </a:r>
          </a:p>
          <a:p>
            <a:pPr marL="0" indent="0" fontAlgn="base">
              <a:buNone/>
            </a:pPr>
            <a:r>
              <a:rPr lang="en-US" dirty="0"/>
              <a:t>        while(</a:t>
            </a:r>
            <a:r>
              <a:rPr lang="en-US" dirty="0" err="1"/>
              <a:t>values.hasNext</a:t>
            </a:r>
            <a:r>
              <a:rPr lang="en-US" dirty="0"/>
              <a:t>()) {</a:t>
            </a:r>
          </a:p>
          <a:p>
            <a:pPr marL="0" indent="0" fontAlgn="base">
              <a:buNone/>
            </a:pPr>
            <a:r>
              <a:rPr lang="en-US" dirty="0"/>
              <a:t>            count += </a:t>
            </a:r>
            <a:r>
              <a:rPr lang="en-US" dirty="0" err="1"/>
              <a:t>values.next</a:t>
            </a:r>
            <a:r>
              <a:rPr lang="en-US" dirty="0"/>
              <a:t>().get();</a:t>
            </a:r>
          </a:p>
          <a:p>
            <a:pPr marL="0" indent="0" fontAlgn="base">
              <a:buNone/>
            </a:pPr>
            <a:r>
              <a:rPr lang="en-US" dirty="0"/>
              <a:t>        }</a:t>
            </a:r>
          </a:p>
          <a:p>
            <a:pPr marL="0" indent="0" fontAlgn="base">
              <a:buNone/>
            </a:pPr>
            <a:r>
              <a:rPr lang="en-US" dirty="0"/>
              <a:t>        </a:t>
            </a:r>
            <a:r>
              <a:rPr lang="en-US" dirty="0" err="1"/>
              <a:t>output.collect</a:t>
            </a:r>
            <a:r>
              <a:rPr lang="en-US" dirty="0"/>
              <a:t>(key, new </a:t>
            </a:r>
            <a:r>
              <a:rPr lang="en-US" dirty="0" err="1"/>
              <a:t>IntWritable</a:t>
            </a:r>
            <a:r>
              <a:rPr lang="en-US" dirty="0"/>
              <a:t>(count));</a:t>
            </a:r>
          </a:p>
          <a:p>
            <a:pPr marL="0" indent="0" fontAlgn="base">
              <a:buNone/>
            </a:pPr>
            <a:r>
              <a:rPr lang="en-US" dirty="0"/>
              <a:t>    }</a:t>
            </a:r>
          </a:p>
          <a:p>
            <a:pPr marL="0" indent="0" fontAlgn="base">
              <a:buNone/>
            </a:pPr>
            <a:r>
              <a:rPr lang="en-US" dirty="0"/>
              <a:t>}</a:t>
            </a:r>
          </a:p>
          <a:p>
            <a:endParaRPr lang="en-US" dirty="0"/>
          </a:p>
        </p:txBody>
      </p:sp>
      <p:sp>
        <p:nvSpPr>
          <p:cNvPr id="2" name="Footer Placeholder 1"/>
          <p:cNvSpPr>
            <a:spLocks noGrp="1"/>
          </p:cNvSpPr>
          <p:nvPr>
            <p:ph type="ftr" sz="quarter" idx="11"/>
          </p:nvPr>
        </p:nvSpPr>
        <p:spPr/>
        <p:txBody>
          <a:bodyPr/>
          <a:lstStyle/>
          <a:p>
            <a:r>
              <a:rPr lang="en-US" smtClean="0"/>
              <a:t>AXP Internal</a:t>
            </a:r>
            <a:endParaRPr lang="en-US"/>
          </a:p>
        </p:txBody>
      </p:sp>
      <p:sp>
        <p:nvSpPr>
          <p:cNvPr id="4" name="Date Placeholder 3"/>
          <p:cNvSpPr>
            <a:spLocks noGrp="1"/>
          </p:cNvSpPr>
          <p:nvPr>
            <p:ph type="dt" sz="half" idx="10"/>
          </p:nvPr>
        </p:nvSpPr>
        <p:spPr/>
        <p:txBody>
          <a:bodyPr/>
          <a:lstStyle/>
          <a:p>
            <a:fld id="{B045D997-CABB-4826-8C99-DBB64905647B}" type="datetime5">
              <a:rPr lang="en-US" smtClean="0"/>
              <a:t>15-Aug-16</a:t>
            </a:fld>
            <a:endParaRPr lang="en-US"/>
          </a:p>
        </p:txBody>
      </p:sp>
      <p:sp>
        <p:nvSpPr>
          <p:cNvPr id="5" name="Slide Number Placeholder 4"/>
          <p:cNvSpPr>
            <a:spLocks noGrp="1"/>
          </p:cNvSpPr>
          <p:nvPr>
            <p:ph type="sldNum" sz="quarter" idx="12"/>
          </p:nvPr>
        </p:nvSpPr>
        <p:spPr/>
        <p:txBody>
          <a:bodyPr/>
          <a:lstStyle/>
          <a:p>
            <a:fld id="{B500B02B-286B-4C88-AC97-658498CB3C15}" type="slidenum">
              <a:rPr lang="en-US" smtClean="0"/>
              <a:t>23</a:t>
            </a:fld>
            <a:endParaRPr lang="en-US"/>
          </a:p>
        </p:txBody>
      </p:sp>
    </p:spTree>
    <p:extLst>
      <p:ext uri="{BB962C8B-B14F-4D97-AF65-F5344CB8AC3E}">
        <p14:creationId xmlns:p14="http://schemas.microsoft.com/office/powerpoint/2010/main" val="41308029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Reducer O/P</a:t>
            </a:r>
            <a:endParaRPr lang="en-US" dirty="0"/>
          </a:p>
        </p:txBody>
      </p:sp>
      <p:sp>
        <p:nvSpPr>
          <p:cNvPr id="3" name="Content Placeholder 2"/>
          <p:cNvSpPr>
            <a:spLocks noGrp="1"/>
          </p:cNvSpPr>
          <p:nvPr>
            <p:ph idx="1"/>
          </p:nvPr>
        </p:nvSpPr>
        <p:spPr/>
        <p:txBody>
          <a:bodyPr>
            <a:normAutofit fontScale="77500" lnSpcReduction="20000"/>
          </a:bodyPr>
          <a:lstStyle/>
          <a:p>
            <a:r>
              <a:rPr lang="en-US" dirty="0"/>
              <a:t>The reducer receives all the key value pairs for in the sorted order of the key. As you can see above the reduce method takes in all &lt;key, value&gt; pairs and increments a counter for values with the same key and emits it out. So the output </a:t>
            </a:r>
            <a:r>
              <a:rPr lang="en-US" dirty="0" smtClean="0"/>
              <a:t>of </a:t>
            </a:r>
            <a:r>
              <a:rPr lang="en-US" dirty="0"/>
              <a:t>the reducer will be as follows</a:t>
            </a:r>
            <a:r>
              <a:rPr lang="en-US" dirty="0" smtClean="0"/>
              <a:t>:</a:t>
            </a:r>
          </a:p>
          <a:p>
            <a:pPr marL="0" indent="0" fontAlgn="base">
              <a:buNone/>
            </a:pPr>
            <a:r>
              <a:rPr lang="en-US" dirty="0"/>
              <a:t>&lt;on, 1&gt;</a:t>
            </a:r>
          </a:p>
          <a:p>
            <a:pPr marL="0" indent="0" fontAlgn="base">
              <a:buNone/>
            </a:pPr>
            <a:r>
              <a:rPr lang="en-US" dirty="0"/>
              <a:t>&lt;sea, 2&gt;</a:t>
            </a:r>
          </a:p>
          <a:p>
            <a:pPr marL="0" indent="0" fontAlgn="base">
              <a:buNone/>
            </a:pPr>
            <a:r>
              <a:rPr lang="en-US" dirty="0"/>
              <a:t>&lt;sells, 1&gt;</a:t>
            </a:r>
          </a:p>
          <a:p>
            <a:pPr marL="0" indent="0" fontAlgn="base">
              <a:buNone/>
            </a:pPr>
            <a:r>
              <a:rPr lang="en-US" dirty="0"/>
              <a:t>&lt;she, 1&gt;</a:t>
            </a:r>
          </a:p>
          <a:p>
            <a:pPr marL="0" indent="0" fontAlgn="base">
              <a:buNone/>
            </a:pPr>
            <a:r>
              <a:rPr lang="en-US" dirty="0"/>
              <a:t>&lt;shells, 1&gt;</a:t>
            </a:r>
          </a:p>
          <a:p>
            <a:pPr marL="0" indent="0" fontAlgn="base">
              <a:buNone/>
            </a:pPr>
            <a:r>
              <a:rPr lang="en-US" dirty="0"/>
              <a:t>&lt;shore, 1&gt;</a:t>
            </a:r>
          </a:p>
          <a:p>
            <a:pPr marL="0" indent="0" fontAlgn="base">
              <a:buNone/>
            </a:pPr>
            <a:r>
              <a:rPr lang="en-US" dirty="0"/>
              <a:t>&lt;the, 1&gt;</a:t>
            </a:r>
          </a:p>
          <a:p>
            <a:endParaRPr lang="en-US" dirty="0"/>
          </a:p>
        </p:txBody>
      </p:sp>
      <p:sp>
        <p:nvSpPr>
          <p:cNvPr id="4" name="Footer Placeholder 3"/>
          <p:cNvSpPr>
            <a:spLocks noGrp="1"/>
          </p:cNvSpPr>
          <p:nvPr>
            <p:ph type="ftr" sz="quarter" idx="11"/>
          </p:nvPr>
        </p:nvSpPr>
        <p:spPr/>
        <p:txBody>
          <a:bodyPr/>
          <a:lstStyle/>
          <a:p>
            <a:r>
              <a:rPr lang="en-US" smtClean="0"/>
              <a:t>AXP Internal</a:t>
            </a:r>
            <a:endParaRPr lang="en-US"/>
          </a:p>
        </p:txBody>
      </p:sp>
      <p:sp>
        <p:nvSpPr>
          <p:cNvPr id="5" name="Date Placeholder 4"/>
          <p:cNvSpPr>
            <a:spLocks noGrp="1"/>
          </p:cNvSpPr>
          <p:nvPr>
            <p:ph type="dt" sz="half" idx="10"/>
          </p:nvPr>
        </p:nvSpPr>
        <p:spPr/>
        <p:txBody>
          <a:bodyPr/>
          <a:lstStyle/>
          <a:p>
            <a:fld id="{BCC4609B-AAEF-4E3F-A259-779CAC201AA9}" type="datetime5">
              <a:rPr lang="en-US" smtClean="0"/>
              <a:t>15-Aug-16</a:t>
            </a:fld>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24</a:t>
            </a:fld>
            <a:endParaRPr lang="en-US"/>
          </a:p>
        </p:txBody>
      </p:sp>
    </p:spTree>
    <p:extLst>
      <p:ext uri="{BB962C8B-B14F-4D97-AF65-F5344CB8AC3E}">
        <p14:creationId xmlns:p14="http://schemas.microsoft.com/office/powerpoint/2010/main" val="38036451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400800"/>
          </a:xfrm>
        </p:spPr>
        <p:txBody>
          <a:bodyPr>
            <a:normAutofit fontScale="32500" lnSpcReduction="20000"/>
          </a:bodyPr>
          <a:lstStyle/>
          <a:p>
            <a:pPr marL="0" indent="0" fontAlgn="base">
              <a:buNone/>
            </a:pPr>
            <a:r>
              <a:rPr lang="en-US" dirty="0"/>
              <a:t>package </a:t>
            </a:r>
            <a:r>
              <a:rPr lang="en-US" dirty="0" err="1"/>
              <a:t>wordcount</a:t>
            </a:r>
            <a:r>
              <a:rPr lang="en-US" dirty="0"/>
              <a:t>;</a:t>
            </a:r>
          </a:p>
          <a:p>
            <a:pPr marL="0" indent="0" fontAlgn="base">
              <a:buNone/>
            </a:pPr>
            <a:r>
              <a:rPr lang="en-US" dirty="0"/>
              <a:t> </a:t>
            </a:r>
          </a:p>
          <a:p>
            <a:pPr marL="0" indent="0" fontAlgn="base">
              <a:buNone/>
            </a:pPr>
            <a:r>
              <a:rPr lang="en-US" dirty="0"/>
              <a:t>import java.io.*;</a:t>
            </a:r>
          </a:p>
          <a:p>
            <a:pPr marL="0" indent="0" fontAlgn="base">
              <a:buNone/>
            </a:pPr>
            <a:r>
              <a:rPr lang="en-US" dirty="0"/>
              <a:t> </a:t>
            </a:r>
          </a:p>
          <a:p>
            <a:pPr marL="0" indent="0" fontAlgn="base">
              <a:buNone/>
            </a:pPr>
            <a:r>
              <a:rPr lang="en-US" dirty="0"/>
              <a:t>import </a:t>
            </a:r>
            <a:r>
              <a:rPr lang="en-US" dirty="0" err="1"/>
              <a:t>org.apache.hadoop.fs</a:t>
            </a:r>
            <a:r>
              <a:rPr lang="en-US" dirty="0"/>
              <a:t>.*;</a:t>
            </a:r>
          </a:p>
          <a:p>
            <a:pPr marL="0" indent="0" fontAlgn="base">
              <a:buNone/>
            </a:pPr>
            <a:r>
              <a:rPr lang="en-US" dirty="0"/>
              <a:t>import org.apache.hadoop.io.*;</a:t>
            </a:r>
          </a:p>
          <a:p>
            <a:pPr marL="0" indent="0" fontAlgn="base">
              <a:buNone/>
            </a:pPr>
            <a:r>
              <a:rPr lang="en-US" dirty="0"/>
              <a:t>import </a:t>
            </a:r>
            <a:r>
              <a:rPr lang="en-US" dirty="0" err="1"/>
              <a:t>org.apache.hadoop.mapred</a:t>
            </a:r>
            <a:r>
              <a:rPr lang="en-US" dirty="0"/>
              <a:t>.*;</a:t>
            </a:r>
          </a:p>
          <a:p>
            <a:pPr marL="0" indent="0" fontAlgn="base">
              <a:buNone/>
            </a:pPr>
            <a:r>
              <a:rPr lang="en-US" dirty="0"/>
              <a:t>import </a:t>
            </a:r>
            <a:r>
              <a:rPr lang="en-US" dirty="0" err="1"/>
              <a:t>org.apache.hadoop.util</a:t>
            </a:r>
            <a:r>
              <a:rPr lang="en-US" dirty="0"/>
              <a:t>.*;</a:t>
            </a:r>
          </a:p>
          <a:p>
            <a:pPr marL="0" indent="0" fontAlgn="base">
              <a:buNone/>
            </a:pPr>
            <a:r>
              <a:rPr lang="en-US" dirty="0"/>
              <a:t>import </a:t>
            </a:r>
            <a:r>
              <a:rPr lang="en-US" dirty="0" err="1"/>
              <a:t>org.apache.hadoop.conf</a:t>
            </a:r>
            <a:r>
              <a:rPr lang="en-US" dirty="0"/>
              <a:t>.*;</a:t>
            </a:r>
          </a:p>
          <a:p>
            <a:pPr marL="0" indent="0" fontAlgn="base">
              <a:buNone/>
            </a:pPr>
            <a:r>
              <a:rPr lang="en-US" dirty="0"/>
              <a:t> </a:t>
            </a:r>
          </a:p>
          <a:p>
            <a:pPr marL="0" indent="0" fontAlgn="base">
              <a:buNone/>
            </a:pPr>
            <a:r>
              <a:rPr lang="en-US" dirty="0"/>
              <a:t>public class </a:t>
            </a:r>
            <a:r>
              <a:rPr lang="en-US" dirty="0" err="1"/>
              <a:t>WordCount</a:t>
            </a:r>
            <a:r>
              <a:rPr lang="en-US" dirty="0"/>
              <a:t> extends Configured implements Tool{</a:t>
            </a:r>
          </a:p>
          <a:p>
            <a:pPr marL="0" indent="0" fontAlgn="base">
              <a:buNone/>
            </a:pPr>
            <a:r>
              <a:rPr lang="en-US" dirty="0"/>
              <a:t> </a:t>
            </a:r>
          </a:p>
          <a:p>
            <a:pPr marL="0" indent="0" fontAlgn="base">
              <a:buNone/>
            </a:pPr>
            <a:r>
              <a:rPr lang="en-US" dirty="0"/>
              <a:t>    public </a:t>
            </a:r>
            <a:r>
              <a:rPr lang="en-US" dirty="0" err="1"/>
              <a:t>int</a:t>
            </a:r>
            <a:r>
              <a:rPr lang="en-US" dirty="0"/>
              <a:t> run(String[] </a:t>
            </a:r>
            <a:r>
              <a:rPr lang="en-US" dirty="0" err="1"/>
              <a:t>args</a:t>
            </a:r>
            <a:r>
              <a:rPr lang="en-US" dirty="0"/>
              <a:t>) throws </a:t>
            </a:r>
            <a:r>
              <a:rPr lang="en-US" dirty="0" err="1"/>
              <a:t>IOException</a:t>
            </a:r>
            <a:r>
              <a:rPr lang="en-US" dirty="0"/>
              <a:t>{</a:t>
            </a:r>
          </a:p>
          <a:p>
            <a:pPr marL="0" indent="0" fontAlgn="base">
              <a:buNone/>
            </a:pPr>
            <a:r>
              <a:rPr lang="en-US" dirty="0"/>
              <a:t>        </a:t>
            </a:r>
            <a:r>
              <a:rPr lang="en-US" dirty="0" err="1"/>
              <a:t>JobConf</a:t>
            </a:r>
            <a:r>
              <a:rPr lang="en-US" dirty="0"/>
              <a:t> </a:t>
            </a:r>
            <a:r>
              <a:rPr lang="en-US" dirty="0" err="1"/>
              <a:t>conf</a:t>
            </a:r>
            <a:r>
              <a:rPr lang="en-US" dirty="0"/>
              <a:t> = new </a:t>
            </a:r>
            <a:r>
              <a:rPr lang="en-US" dirty="0" err="1"/>
              <a:t>JobConf</a:t>
            </a:r>
            <a:r>
              <a:rPr lang="en-US" dirty="0"/>
              <a:t>(</a:t>
            </a:r>
            <a:r>
              <a:rPr lang="en-US" dirty="0" err="1"/>
              <a:t>WordCount.class</a:t>
            </a:r>
            <a:r>
              <a:rPr lang="en-US" dirty="0"/>
              <a:t>);</a:t>
            </a:r>
          </a:p>
          <a:p>
            <a:pPr marL="0" indent="0" fontAlgn="base">
              <a:buNone/>
            </a:pPr>
            <a:r>
              <a:rPr lang="en-US" dirty="0"/>
              <a:t>        </a:t>
            </a:r>
            <a:r>
              <a:rPr lang="en-US" dirty="0" err="1"/>
              <a:t>conf.setJobName</a:t>
            </a:r>
            <a:r>
              <a:rPr lang="en-US" dirty="0"/>
              <a:t>("</a:t>
            </a:r>
            <a:r>
              <a:rPr lang="en-US" dirty="0" err="1"/>
              <a:t>wordcount</a:t>
            </a:r>
            <a:r>
              <a:rPr lang="en-US" dirty="0"/>
              <a:t>");</a:t>
            </a:r>
          </a:p>
          <a:p>
            <a:pPr marL="0" indent="0" fontAlgn="base">
              <a:buNone/>
            </a:pPr>
            <a:r>
              <a:rPr lang="en-US" dirty="0"/>
              <a:t> </a:t>
            </a:r>
          </a:p>
          <a:p>
            <a:pPr marL="0" indent="0" fontAlgn="base">
              <a:buNone/>
            </a:pPr>
            <a:r>
              <a:rPr lang="en-US" dirty="0"/>
              <a:t>        </a:t>
            </a:r>
            <a:r>
              <a:rPr lang="en-US" dirty="0" err="1"/>
              <a:t>conf.setOutputKeyClass</a:t>
            </a:r>
            <a:r>
              <a:rPr lang="en-US" dirty="0"/>
              <a:t>(</a:t>
            </a:r>
            <a:r>
              <a:rPr lang="en-US" dirty="0" err="1"/>
              <a:t>Text.class</a:t>
            </a:r>
            <a:r>
              <a:rPr lang="en-US" dirty="0"/>
              <a:t>);</a:t>
            </a:r>
          </a:p>
          <a:p>
            <a:pPr marL="0" indent="0" fontAlgn="base">
              <a:buNone/>
            </a:pPr>
            <a:r>
              <a:rPr lang="en-US" dirty="0"/>
              <a:t>        </a:t>
            </a:r>
            <a:r>
              <a:rPr lang="en-US" dirty="0" err="1"/>
              <a:t>conf.setOutputValueClass</a:t>
            </a:r>
            <a:r>
              <a:rPr lang="en-US" dirty="0"/>
              <a:t>(</a:t>
            </a:r>
            <a:r>
              <a:rPr lang="en-US" dirty="0" err="1"/>
              <a:t>IntWritable.class</a:t>
            </a:r>
            <a:r>
              <a:rPr lang="en-US" dirty="0"/>
              <a:t>);</a:t>
            </a:r>
          </a:p>
          <a:p>
            <a:pPr marL="0" indent="0" fontAlgn="base">
              <a:buNone/>
            </a:pPr>
            <a:r>
              <a:rPr lang="en-US" dirty="0"/>
              <a:t> </a:t>
            </a:r>
          </a:p>
          <a:p>
            <a:pPr marL="0" indent="0" fontAlgn="base">
              <a:buNone/>
            </a:pPr>
            <a:r>
              <a:rPr lang="en-US" dirty="0"/>
              <a:t>        </a:t>
            </a:r>
            <a:r>
              <a:rPr lang="en-US" dirty="0" err="1"/>
              <a:t>conf.setMapperClass</a:t>
            </a:r>
            <a:r>
              <a:rPr lang="en-US" dirty="0"/>
              <a:t>(</a:t>
            </a:r>
            <a:r>
              <a:rPr lang="en-US" dirty="0" err="1"/>
              <a:t>WordCountMapper.class</a:t>
            </a:r>
            <a:r>
              <a:rPr lang="en-US" dirty="0"/>
              <a:t>);</a:t>
            </a:r>
          </a:p>
          <a:p>
            <a:pPr marL="0" indent="0" fontAlgn="base">
              <a:buNone/>
            </a:pPr>
            <a:r>
              <a:rPr lang="en-US" dirty="0"/>
              <a:t>        </a:t>
            </a:r>
            <a:r>
              <a:rPr lang="en-US" dirty="0" err="1"/>
              <a:t>conf.setReducerClass</a:t>
            </a:r>
            <a:r>
              <a:rPr lang="en-US" dirty="0"/>
              <a:t>(</a:t>
            </a:r>
            <a:r>
              <a:rPr lang="en-US" dirty="0" err="1"/>
              <a:t>WordCountReducer.class</a:t>
            </a:r>
            <a:r>
              <a:rPr lang="en-US" dirty="0"/>
              <a:t>);</a:t>
            </a:r>
          </a:p>
          <a:p>
            <a:pPr marL="0" indent="0" fontAlgn="base">
              <a:buNone/>
            </a:pPr>
            <a:r>
              <a:rPr lang="en-US" dirty="0"/>
              <a:t> </a:t>
            </a:r>
          </a:p>
          <a:p>
            <a:pPr marL="0" indent="0" fontAlgn="base">
              <a:buNone/>
            </a:pPr>
            <a:r>
              <a:rPr lang="en-US" dirty="0"/>
              <a:t>        </a:t>
            </a:r>
            <a:r>
              <a:rPr lang="en-US" dirty="0" err="1"/>
              <a:t>conf.setInputFormat</a:t>
            </a:r>
            <a:r>
              <a:rPr lang="en-US" dirty="0"/>
              <a:t>(</a:t>
            </a:r>
            <a:r>
              <a:rPr lang="en-US" dirty="0" err="1"/>
              <a:t>TextInputFormat.class</a:t>
            </a:r>
            <a:r>
              <a:rPr lang="en-US" dirty="0"/>
              <a:t>);</a:t>
            </a:r>
          </a:p>
          <a:p>
            <a:pPr marL="0" indent="0" fontAlgn="base">
              <a:buNone/>
            </a:pPr>
            <a:r>
              <a:rPr lang="en-US" dirty="0"/>
              <a:t>        </a:t>
            </a:r>
            <a:r>
              <a:rPr lang="en-US" dirty="0" err="1"/>
              <a:t>conf.setOutputFormat</a:t>
            </a:r>
            <a:r>
              <a:rPr lang="en-US" dirty="0"/>
              <a:t>(</a:t>
            </a:r>
            <a:r>
              <a:rPr lang="en-US" dirty="0" err="1"/>
              <a:t>TextOutputFormat.class</a:t>
            </a:r>
            <a:r>
              <a:rPr lang="en-US" dirty="0"/>
              <a:t>);</a:t>
            </a:r>
          </a:p>
          <a:p>
            <a:pPr marL="0" indent="0" fontAlgn="base">
              <a:buNone/>
            </a:pPr>
            <a:r>
              <a:rPr lang="en-US" dirty="0"/>
              <a:t> </a:t>
            </a:r>
          </a:p>
          <a:p>
            <a:pPr marL="0" indent="0" fontAlgn="base">
              <a:buNone/>
            </a:pPr>
            <a:r>
              <a:rPr lang="en-US" dirty="0"/>
              <a:t>        </a:t>
            </a:r>
            <a:r>
              <a:rPr lang="en-US" dirty="0" err="1"/>
              <a:t>FileInputFormat.setInputPaths</a:t>
            </a:r>
            <a:r>
              <a:rPr lang="en-US" dirty="0"/>
              <a:t>(</a:t>
            </a:r>
            <a:r>
              <a:rPr lang="en-US" dirty="0" err="1"/>
              <a:t>conf</a:t>
            </a:r>
            <a:r>
              <a:rPr lang="en-US" dirty="0"/>
              <a:t>, new Path(</a:t>
            </a:r>
            <a:r>
              <a:rPr lang="en-US" dirty="0" err="1"/>
              <a:t>args</a:t>
            </a:r>
            <a:r>
              <a:rPr lang="en-US" dirty="0"/>
              <a:t>[0]));</a:t>
            </a:r>
          </a:p>
          <a:p>
            <a:pPr marL="0" indent="0" fontAlgn="base">
              <a:buNone/>
            </a:pPr>
            <a:r>
              <a:rPr lang="en-US" dirty="0"/>
              <a:t>        </a:t>
            </a:r>
            <a:r>
              <a:rPr lang="en-US" dirty="0" err="1"/>
              <a:t>FileOutputFormat.setOutputPath</a:t>
            </a:r>
            <a:r>
              <a:rPr lang="en-US" dirty="0"/>
              <a:t>(</a:t>
            </a:r>
            <a:r>
              <a:rPr lang="en-US" dirty="0" err="1"/>
              <a:t>conf</a:t>
            </a:r>
            <a:r>
              <a:rPr lang="en-US" dirty="0"/>
              <a:t>, new Path(</a:t>
            </a:r>
            <a:r>
              <a:rPr lang="en-US" dirty="0" err="1"/>
              <a:t>args</a:t>
            </a:r>
            <a:r>
              <a:rPr lang="en-US" dirty="0"/>
              <a:t>[1]));</a:t>
            </a:r>
          </a:p>
          <a:p>
            <a:pPr marL="0" indent="0" fontAlgn="base">
              <a:buNone/>
            </a:pPr>
            <a:r>
              <a:rPr lang="en-US" dirty="0"/>
              <a:t> </a:t>
            </a:r>
          </a:p>
          <a:p>
            <a:pPr marL="0" indent="0" fontAlgn="base">
              <a:buNone/>
            </a:pPr>
            <a:r>
              <a:rPr lang="en-US" dirty="0"/>
              <a:t>        </a:t>
            </a:r>
            <a:r>
              <a:rPr lang="en-US" dirty="0" err="1"/>
              <a:t>JobClient.runJob</a:t>
            </a:r>
            <a:r>
              <a:rPr lang="en-US" dirty="0"/>
              <a:t>(</a:t>
            </a:r>
            <a:r>
              <a:rPr lang="en-US" dirty="0" err="1"/>
              <a:t>conf</a:t>
            </a:r>
            <a:r>
              <a:rPr lang="en-US" dirty="0"/>
              <a:t>);</a:t>
            </a:r>
          </a:p>
          <a:p>
            <a:pPr marL="0" indent="0" fontAlgn="base">
              <a:buNone/>
            </a:pPr>
            <a:r>
              <a:rPr lang="en-US" dirty="0"/>
              <a:t> </a:t>
            </a:r>
          </a:p>
          <a:p>
            <a:pPr marL="0" indent="0" fontAlgn="base">
              <a:buNone/>
            </a:pPr>
            <a:r>
              <a:rPr lang="en-US" dirty="0"/>
              <a:t>        return 0;</a:t>
            </a:r>
          </a:p>
          <a:p>
            <a:pPr marL="0" indent="0" fontAlgn="base">
              <a:buNone/>
            </a:pPr>
            <a:r>
              <a:rPr lang="en-US" dirty="0"/>
              <a:t>    }</a:t>
            </a:r>
          </a:p>
          <a:p>
            <a:pPr marL="0" indent="0" fontAlgn="base">
              <a:buNone/>
            </a:pPr>
            <a:r>
              <a:rPr lang="en-US" dirty="0"/>
              <a:t> </a:t>
            </a:r>
          </a:p>
          <a:p>
            <a:pPr marL="0" indent="0" fontAlgn="base">
              <a:buNone/>
            </a:pPr>
            <a:r>
              <a:rPr lang="en-US" dirty="0"/>
              <a:t>    public static void main(String[] </a:t>
            </a:r>
            <a:r>
              <a:rPr lang="en-US" dirty="0" err="1"/>
              <a:t>args</a:t>
            </a:r>
            <a:r>
              <a:rPr lang="en-US" dirty="0"/>
              <a:t>) throws Exception {</a:t>
            </a:r>
          </a:p>
          <a:p>
            <a:pPr marL="0" indent="0" fontAlgn="base">
              <a:buNone/>
            </a:pPr>
            <a:r>
              <a:rPr lang="en-US" dirty="0"/>
              <a:t>        </a:t>
            </a:r>
            <a:r>
              <a:rPr lang="en-US" dirty="0" err="1"/>
              <a:t>int</a:t>
            </a:r>
            <a:r>
              <a:rPr lang="en-US" dirty="0"/>
              <a:t> </a:t>
            </a:r>
            <a:r>
              <a:rPr lang="en-US" dirty="0" err="1"/>
              <a:t>exitCode</a:t>
            </a:r>
            <a:r>
              <a:rPr lang="en-US" dirty="0"/>
              <a:t> = </a:t>
            </a:r>
            <a:r>
              <a:rPr lang="en-US" dirty="0" err="1"/>
              <a:t>ToolRunner.run</a:t>
            </a:r>
            <a:r>
              <a:rPr lang="en-US" dirty="0"/>
              <a:t>(new </a:t>
            </a:r>
            <a:r>
              <a:rPr lang="en-US" dirty="0" err="1"/>
              <a:t>WordCount</a:t>
            </a:r>
            <a:r>
              <a:rPr lang="en-US" dirty="0"/>
              <a:t>(), </a:t>
            </a:r>
            <a:r>
              <a:rPr lang="en-US" dirty="0" err="1"/>
              <a:t>args</a:t>
            </a:r>
            <a:r>
              <a:rPr lang="en-US" dirty="0"/>
              <a:t>);</a:t>
            </a:r>
          </a:p>
          <a:p>
            <a:pPr marL="0" indent="0" fontAlgn="base">
              <a:buNone/>
            </a:pPr>
            <a:r>
              <a:rPr lang="en-US" dirty="0"/>
              <a:t>        </a:t>
            </a:r>
            <a:r>
              <a:rPr lang="en-US" dirty="0" err="1"/>
              <a:t>System.exit</a:t>
            </a:r>
            <a:r>
              <a:rPr lang="en-US" dirty="0"/>
              <a:t>(</a:t>
            </a:r>
            <a:r>
              <a:rPr lang="en-US" dirty="0" err="1"/>
              <a:t>exitCode</a:t>
            </a:r>
            <a:r>
              <a:rPr lang="en-US" dirty="0"/>
              <a:t>);</a:t>
            </a:r>
          </a:p>
          <a:p>
            <a:pPr marL="0" indent="0" fontAlgn="base">
              <a:buNone/>
            </a:pPr>
            <a:r>
              <a:rPr lang="en-US" dirty="0"/>
              <a:t>    }</a:t>
            </a:r>
          </a:p>
          <a:p>
            <a:pPr marL="0" indent="0" fontAlgn="base">
              <a:buNone/>
            </a:pPr>
            <a:r>
              <a:rPr lang="en-US" dirty="0"/>
              <a:t> </a:t>
            </a:r>
          </a:p>
          <a:p>
            <a:pPr marL="0" indent="0" fontAlgn="base">
              <a:buNone/>
            </a:pPr>
            <a:r>
              <a:rPr lang="en-US" dirty="0" smtClean="0"/>
              <a:t>}</a:t>
            </a:r>
            <a:endParaRPr lang="en-US" dirty="0"/>
          </a:p>
        </p:txBody>
      </p:sp>
      <p:sp>
        <p:nvSpPr>
          <p:cNvPr id="2" name="Footer Placeholder 1"/>
          <p:cNvSpPr>
            <a:spLocks noGrp="1"/>
          </p:cNvSpPr>
          <p:nvPr>
            <p:ph type="ftr" sz="quarter" idx="11"/>
          </p:nvPr>
        </p:nvSpPr>
        <p:spPr/>
        <p:txBody>
          <a:bodyPr/>
          <a:lstStyle/>
          <a:p>
            <a:r>
              <a:rPr lang="en-US" smtClean="0"/>
              <a:t>AXP Internal</a:t>
            </a:r>
            <a:endParaRPr lang="en-US"/>
          </a:p>
        </p:txBody>
      </p:sp>
      <p:sp>
        <p:nvSpPr>
          <p:cNvPr id="4" name="Date Placeholder 3"/>
          <p:cNvSpPr>
            <a:spLocks noGrp="1"/>
          </p:cNvSpPr>
          <p:nvPr>
            <p:ph type="dt" sz="half" idx="10"/>
          </p:nvPr>
        </p:nvSpPr>
        <p:spPr/>
        <p:txBody>
          <a:bodyPr/>
          <a:lstStyle/>
          <a:p>
            <a:fld id="{C767FA30-B5FB-44F4-92DD-9739FCAE8018}" type="datetime5">
              <a:rPr lang="en-US" smtClean="0"/>
              <a:t>15-Aug-16</a:t>
            </a:fld>
            <a:endParaRPr lang="en-US"/>
          </a:p>
        </p:txBody>
      </p:sp>
      <p:sp>
        <p:nvSpPr>
          <p:cNvPr id="5" name="Slide Number Placeholder 4"/>
          <p:cNvSpPr>
            <a:spLocks noGrp="1"/>
          </p:cNvSpPr>
          <p:nvPr>
            <p:ph type="sldNum" sz="quarter" idx="12"/>
          </p:nvPr>
        </p:nvSpPr>
        <p:spPr/>
        <p:txBody>
          <a:bodyPr/>
          <a:lstStyle/>
          <a:p>
            <a:fld id="{B500B02B-286B-4C88-AC97-658498CB3C15}" type="slidenum">
              <a:rPr lang="en-US" smtClean="0"/>
              <a:t>25</a:t>
            </a:fld>
            <a:endParaRPr lang="en-US"/>
          </a:p>
        </p:txBody>
      </p:sp>
    </p:spTree>
    <p:extLst>
      <p:ext uri="{BB962C8B-B14F-4D97-AF65-F5344CB8AC3E}">
        <p14:creationId xmlns:p14="http://schemas.microsoft.com/office/powerpoint/2010/main" val="3860540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B12B13-3B20-4553-B03C-0B0E6B7AB2BE}" type="datetime5">
              <a:rPr lang="en-US" smtClean="0"/>
              <a:t>15-Aug-16</a:t>
            </a:fld>
            <a:endParaRPr lang="en-US"/>
          </a:p>
        </p:txBody>
      </p:sp>
      <p:sp>
        <p:nvSpPr>
          <p:cNvPr id="5" name="Footer Placeholder 4"/>
          <p:cNvSpPr>
            <a:spLocks noGrp="1"/>
          </p:cNvSpPr>
          <p:nvPr>
            <p:ph type="ftr" sz="quarter" idx="11"/>
          </p:nvPr>
        </p:nvSpPr>
        <p:spPr/>
        <p:txBody>
          <a:bodyPr/>
          <a:lstStyle/>
          <a:p>
            <a:r>
              <a:rPr lang="en-US" smtClean="0"/>
              <a:t>AXP Internal</a:t>
            </a:r>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26</a:t>
            </a:fld>
            <a:endParaRPr lang="en-US"/>
          </a:p>
        </p:txBody>
      </p:sp>
      <p:pic>
        <p:nvPicPr>
          <p:cNvPr id="7" name="Picture 6"/>
          <p:cNvPicPr>
            <a:picLocks noChangeAspect="1"/>
          </p:cNvPicPr>
          <p:nvPr/>
        </p:nvPicPr>
        <p:blipFill rotWithShape="1">
          <a:blip r:embed="rId2"/>
          <a:srcRect l="31500" t="34889" r="20000" b="18889"/>
          <a:stretch/>
        </p:blipFill>
        <p:spPr>
          <a:xfrm>
            <a:off x="457200" y="1066800"/>
            <a:ext cx="8386396" cy="4495800"/>
          </a:xfrm>
          <a:prstGeom prst="rect">
            <a:avLst/>
          </a:prstGeom>
        </p:spPr>
      </p:pic>
    </p:spTree>
    <p:extLst>
      <p:ext uri="{BB962C8B-B14F-4D97-AF65-F5344CB8AC3E}">
        <p14:creationId xmlns:p14="http://schemas.microsoft.com/office/powerpoint/2010/main" val="18248961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err="1">
                <a:solidFill>
                  <a:schemeClr val="tx1">
                    <a:lumMod val="95000"/>
                    <a:lumOff val="5000"/>
                  </a:schemeClr>
                </a:solidFill>
              </a:rPr>
              <a:t>hadoop</a:t>
            </a:r>
            <a:r>
              <a:rPr lang="en-US" dirty="0">
                <a:solidFill>
                  <a:schemeClr val="tx1">
                    <a:lumMod val="95000"/>
                    <a:lumOff val="5000"/>
                  </a:schemeClr>
                </a:solidFill>
              </a:rPr>
              <a:t> </a:t>
            </a:r>
            <a:r>
              <a:rPr lang="en-US" dirty="0" smtClean="0">
                <a:solidFill>
                  <a:schemeClr val="tx1">
                    <a:lumMod val="95000"/>
                    <a:lumOff val="5000"/>
                  </a:schemeClr>
                </a:solidFill>
              </a:rPr>
              <a:t>ecosystem</a:t>
            </a:r>
            <a:br>
              <a:rPr lang="en-US" dirty="0" smtClean="0">
                <a:solidFill>
                  <a:schemeClr val="tx1">
                    <a:lumMod val="95000"/>
                    <a:lumOff val="5000"/>
                  </a:schemeClr>
                </a:solidFill>
              </a:rPr>
            </a:br>
            <a:r>
              <a:rPr lang="en-US" dirty="0" smtClean="0">
                <a:solidFill>
                  <a:schemeClr val="tx1">
                    <a:lumMod val="95000"/>
                    <a:lumOff val="5000"/>
                  </a:schemeClr>
                </a:solidFill>
              </a:rPr>
              <a:t>- </a:t>
            </a:r>
            <a:r>
              <a:rPr lang="en-US" sz="2700" dirty="0" smtClean="0">
                <a:solidFill>
                  <a:schemeClr val="tx1">
                    <a:lumMod val="95000"/>
                    <a:lumOff val="5000"/>
                  </a:schemeClr>
                </a:solidFill>
              </a:rPr>
              <a:t>CDH  (</a:t>
            </a:r>
            <a:r>
              <a:rPr lang="en-US" sz="2700" dirty="0"/>
              <a:t> </a:t>
            </a:r>
            <a:r>
              <a:rPr lang="en-US" sz="2700" dirty="0" smtClean="0"/>
              <a:t>Cloudera </a:t>
            </a:r>
            <a:r>
              <a:rPr lang="en-US" sz="2700" dirty="0"/>
              <a:t>Distribution Including Apache Hadoop)</a:t>
            </a:r>
          </a:p>
        </p:txBody>
      </p:sp>
      <p:sp>
        <p:nvSpPr>
          <p:cNvPr id="29699" name="Content Placeholder 2"/>
          <p:cNvSpPr>
            <a:spLocks noGrp="1"/>
          </p:cNvSpPr>
          <p:nvPr>
            <p:ph idx="1"/>
          </p:nvPr>
        </p:nvSpPr>
        <p:spPr>
          <a:xfrm>
            <a:off x="457200" y="1828800"/>
            <a:ext cx="8401050" cy="4479925"/>
          </a:xfrm>
        </p:spPr>
        <p:txBody>
          <a:bodyPr rtlCol="0">
            <a:normAutofit fontScale="70000" lnSpcReduction="20000"/>
          </a:bodyPr>
          <a:lstStyle/>
          <a:p>
            <a:pPr marL="0" indent="0" eaLnBrk="1" fontAlgn="auto" hangingPunct="1">
              <a:spcAft>
                <a:spcPts val="0"/>
              </a:spcAft>
              <a:buFont typeface="Tw Cen MT" panose="020B0602020104020603" pitchFamily="34" charset="0"/>
              <a:buNone/>
              <a:defRPr/>
            </a:pPr>
            <a:r>
              <a:rPr lang="en-US" altLang="en-US" dirty="0" err="1" smtClean="0"/>
              <a:t>Sqoop</a:t>
            </a:r>
            <a:r>
              <a:rPr lang="en-US" altLang="en-US" dirty="0" smtClean="0"/>
              <a:t> – RDBMS to HDFS</a:t>
            </a:r>
          </a:p>
          <a:p>
            <a:pPr eaLnBrk="1" fontAlgn="auto" hangingPunct="1">
              <a:spcAft>
                <a:spcPts val="0"/>
              </a:spcAft>
              <a:defRPr/>
            </a:pPr>
            <a:r>
              <a:rPr lang="en-US" altLang="en-US" dirty="0" smtClean="0"/>
              <a:t>Flume – Instream to </a:t>
            </a:r>
            <a:r>
              <a:rPr lang="en-US" altLang="en-US" smtClean="0"/>
              <a:t>HDFS – example logs</a:t>
            </a:r>
            <a:endParaRPr lang="en-US" altLang="en-US" dirty="0" smtClean="0"/>
          </a:p>
          <a:p>
            <a:pPr eaLnBrk="1" fontAlgn="auto" hangingPunct="1">
              <a:spcAft>
                <a:spcPts val="0"/>
              </a:spcAft>
              <a:defRPr/>
            </a:pPr>
            <a:r>
              <a:rPr lang="en-US" altLang="en-US" dirty="0" smtClean="0"/>
              <a:t>Hive – SQL like – Runs </a:t>
            </a:r>
            <a:r>
              <a:rPr lang="en-US" altLang="en-US" dirty="0" err="1" smtClean="0"/>
              <a:t>MapR</a:t>
            </a:r>
            <a:endParaRPr lang="en-US" altLang="en-US" dirty="0" smtClean="0"/>
          </a:p>
          <a:p>
            <a:pPr eaLnBrk="1" fontAlgn="auto" hangingPunct="1">
              <a:spcAft>
                <a:spcPts val="0"/>
              </a:spcAft>
              <a:defRPr/>
            </a:pPr>
            <a:r>
              <a:rPr lang="en-US" altLang="en-US" dirty="0" smtClean="0"/>
              <a:t>Pig – Script – Runs </a:t>
            </a:r>
            <a:r>
              <a:rPr lang="en-US" altLang="en-US" dirty="0" err="1" smtClean="0"/>
              <a:t>MapR</a:t>
            </a:r>
            <a:endParaRPr lang="en-US" altLang="en-US" dirty="0" smtClean="0"/>
          </a:p>
          <a:p>
            <a:pPr eaLnBrk="1" fontAlgn="auto" hangingPunct="1">
              <a:spcAft>
                <a:spcPts val="0"/>
              </a:spcAft>
              <a:defRPr/>
            </a:pPr>
            <a:r>
              <a:rPr lang="en-US" altLang="en-US" dirty="0" err="1" smtClean="0"/>
              <a:t>Oozie</a:t>
            </a:r>
            <a:r>
              <a:rPr lang="en-US" altLang="en-US" dirty="0" smtClean="0"/>
              <a:t> – Task </a:t>
            </a:r>
            <a:r>
              <a:rPr lang="en-US" altLang="en-US" dirty="0" err="1" smtClean="0"/>
              <a:t>Mangement</a:t>
            </a:r>
            <a:endParaRPr lang="en-US" altLang="en-US" dirty="0" smtClean="0"/>
          </a:p>
          <a:p>
            <a:pPr eaLnBrk="1" fontAlgn="auto" hangingPunct="1">
              <a:spcAft>
                <a:spcPts val="0"/>
              </a:spcAft>
              <a:defRPr/>
            </a:pPr>
            <a:r>
              <a:rPr lang="en-US" altLang="en-US" dirty="0" smtClean="0"/>
              <a:t>Mahout – M/c learning on Hadoop</a:t>
            </a:r>
          </a:p>
          <a:p>
            <a:pPr eaLnBrk="1" fontAlgn="auto" hangingPunct="1">
              <a:spcAft>
                <a:spcPts val="0"/>
              </a:spcAft>
              <a:defRPr/>
            </a:pPr>
            <a:r>
              <a:rPr lang="en-US" altLang="en-US" dirty="0" smtClean="0"/>
              <a:t>Drill/Impala - Low latency query – Directly HDFS</a:t>
            </a:r>
          </a:p>
          <a:p>
            <a:pPr eaLnBrk="1" fontAlgn="auto" hangingPunct="1">
              <a:spcAft>
                <a:spcPts val="0"/>
              </a:spcAft>
              <a:defRPr/>
            </a:pPr>
            <a:r>
              <a:rPr lang="en-US" b="1" dirty="0" err="1" smtClean="0"/>
              <a:t>HBase</a:t>
            </a:r>
            <a:r>
              <a:rPr lang="en-US" dirty="0"/>
              <a:t> is inspired from Google’s </a:t>
            </a:r>
            <a:r>
              <a:rPr lang="en-US" dirty="0" err="1"/>
              <a:t>BigTable</a:t>
            </a:r>
            <a:r>
              <a:rPr lang="en-US" dirty="0"/>
              <a:t>. It is a non-relational, scalable and fault-tolerant database that is layered on top of HDFS. </a:t>
            </a:r>
            <a:r>
              <a:rPr lang="en-US" dirty="0" err="1"/>
              <a:t>HBase</a:t>
            </a:r>
            <a:r>
              <a:rPr lang="en-US" dirty="0"/>
              <a:t> is written in Java.</a:t>
            </a:r>
          </a:p>
          <a:p>
            <a:pPr eaLnBrk="1" fontAlgn="auto" hangingPunct="1">
              <a:spcAft>
                <a:spcPts val="0"/>
              </a:spcAft>
              <a:defRPr/>
            </a:pPr>
            <a:r>
              <a:rPr lang="en-US" b="1" dirty="0" err="1"/>
              <a:t>ZooKeepe</a:t>
            </a:r>
            <a:r>
              <a:rPr lang="en-US" dirty="0" err="1"/>
              <a:t>r</a:t>
            </a:r>
            <a:r>
              <a:rPr lang="en-US" dirty="0"/>
              <a:t> is a centralized service for maintaining configuration information, naming, providing distributed synchronization, and providing group </a:t>
            </a:r>
            <a:r>
              <a:rPr lang="en-US" dirty="0" smtClean="0"/>
              <a:t>services</a:t>
            </a:r>
            <a:endParaRPr lang="en-US" altLang="en-US" dirty="0" smtClean="0"/>
          </a:p>
        </p:txBody>
      </p:sp>
      <p:sp>
        <p:nvSpPr>
          <p:cNvPr id="4" name="Date Placeholder 3"/>
          <p:cNvSpPr>
            <a:spLocks noGrp="1"/>
          </p:cNvSpPr>
          <p:nvPr>
            <p:ph type="dt" sz="quarter" idx="10"/>
          </p:nvPr>
        </p:nvSpPr>
        <p:spPr/>
        <p:txBody>
          <a:bodyPr/>
          <a:lstStyle/>
          <a:p>
            <a:pPr>
              <a:defRPr/>
            </a:pPr>
            <a:fld id="{9998FB4C-6FC2-4565-BA93-B0186DE5E68A}" type="datetime5">
              <a:rPr lang="en-US" smtClean="0"/>
              <a:t>15-Aug-16</a:t>
            </a:fld>
            <a:endParaRPr lang="en-US"/>
          </a:p>
        </p:txBody>
      </p:sp>
      <p:sp>
        <p:nvSpPr>
          <p:cNvPr id="5" name="Slide Number Placeholder 4"/>
          <p:cNvSpPr>
            <a:spLocks noGrp="1"/>
          </p:cNvSpPr>
          <p:nvPr>
            <p:ph type="sldNum" sz="quarter" idx="12"/>
          </p:nvPr>
        </p:nvSpPr>
        <p:spPr/>
        <p:txBody>
          <a:bodyPr/>
          <a:lstStyle/>
          <a:p>
            <a:pPr>
              <a:defRPr/>
            </a:pPr>
            <a:fld id="{B4B63402-AA6A-4237-A9E6-4CE403E9694F}" type="slidenum">
              <a:rPr lang="en-US" altLang="en-US"/>
              <a:pPr>
                <a:defRPr/>
              </a:pPr>
              <a:t>27</a:t>
            </a:fld>
            <a:endParaRPr lang="en-US" altLang="en-US"/>
          </a:p>
        </p:txBody>
      </p:sp>
      <p:sp>
        <p:nvSpPr>
          <p:cNvPr id="3" name="Footer Placeholder 2"/>
          <p:cNvSpPr>
            <a:spLocks noGrp="1"/>
          </p:cNvSpPr>
          <p:nvPr>
            <p:ph type="ftr" sz="quarter" idx="11"/>
          </p:nvPr>
        </p:nvSpPr>
        <p:spPr/>
        <p:txBody>
          <a:bodyPr/>
          <a:lstStyle/>
          <a:p>
            <a:pPr>
              <a:defRPr/>
            </a:pPr>
            <a:r>
              <a:rPr lang="en-US" smtClean="0"/>
              <a:t>AXP Internal</a:t>
            </a:r>
            <a:endParaRPr lang="en-US"/>
          </a:p>
        </p:txBody>
      </p:sp>
    </p:spTree>
    <p:extLst>
      <p:ext uri="{BB962C8B-B14F-4D97-AF65-F5344CB8AC3E}">
        <p14:creationId xmlns:p14="http://schemas.microsoft.com/office/powerpoint/2010/main" val="41377865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fade">
                                      <p:cBhvr>
                                        <p:cTn id="7" dur="500"/>
                                        <p:tgtEl>
                                          <p:spTgt spid="296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fade">
                                      <p:cBhvr>
                                        <p:cTn id="12" dur="500"/>
                                        <p:tgtEl>
                                          <p:spTgt spid="296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Effect transition="in" filter="fade">
                                      <p:cBhvr>
                                        <p:cTn id="17" dur="500"/>
                                        <p:tgtEl>
                                          <p:spTgt spid="296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29699">
                                            <p:txEl>
                                              <p:pRg st="3" end="3"/>
                                            </p:txEl>
                                          </p:spTgt>
                                        </p:tgtEl>
                                        <p:attrNameLst>
                                          <p:attrName>style.visibility</p:attrName>
                                        </p:attrNameLst>
                                      </p:cBhvr>
                                      <p:to>
                                        <p:strVal val="visible"/>
                                      </p:to>
                                    </p:set>
                                    <p:animEffect transition="in" filter="fade">
                                      <p:cBhvr>
                                        <p:cTn id="22" dur="500"/>
                                        <p:tgtEl>
                                          <p:spTgt spid="296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29699">
                                            <p:txEl>
                                              <p:pRg st="4" end="4"/>
                                            </p:txEl>
                                          </p:spTgt>
                                        </p:tgtEl>
                                        <p:attrNameLst>
                                          <p:attrName>style.visibility</p:attrName>
                                        </p:attrNameLst>
                                      </p:cBhvr>
                                      <p:to>
                                        <p:strVal val="visible"/>
                                      </p:to>
                                    </p:set>
                                    <p:animEffect transition="in" filter="fade">
                                      <p:cBhvr>
                                        <p:cTn id="27" dur="500"/>
                                        <p:tgtEl>
                                          <p:spTgt spid="296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29699">
                                            <p:txEl>
                                              <p:pRg st="5" end="5"/>
                                            </p:txEl>
                                          </p:spTgt>
                                        </p:tgtEl>
                                        <p:attrNameLst>
                                          <p:attrName>style.visibility</p:attrName>
                                        </p:attrNameLst>
                                      </p:cBhvr>
                                      <p:to>
                                        <p:strVal val="visible"/>
                                      </p:to>
                                    </p:set>
                                    <p:animEffect transition="in" filter="fade">
                                      <p:cBhvr>
                                        <p:cTn id="32" dur="500"/>
                                        <p:tgtEl>
                                          <p:spTgt spid="296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29699">
                                            <p:txEl>
                                              <p:pRg st="6" end="6"/>
                                            </p:txEl>
                                          </p:spTgt>
                                        </p:tgtEl>
                                        <p:attrNameLst>
                                          <p:attrName>style.visibility</p:attrName>
                                        </p:attrNameLst>
                                      </p:cBhvr>
                                      <p:to>
                                        <p:strVal val="visible"/>
                                      </p:to>
                                    </p:set>
                                    <p:animEffect transition="in" filter="fade">
                                      <p:cBhvr>
                                        <p:cTn id="37" dur="500"/>
                                        <p:tgtEl>
                                          <p:spTgt spid="2969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29699">
                                            <p:txEl>
                                              <p:pRg st="7" end="7"/>
                                            </p:txEl>
                                          </p:spTgt>
                                        </p:tgtEl>
                                        <p:attrNameLst>
                                          <p:attrName>style.visibility</p:attrName>
                                        </p:attrNameLst>
                                      </p:cBhvr>
                                      <p:to>
                                        <p:strVal val="visible"/>
                                      </p:to>
                                    </p:set>
                                    <p:animEffect transition="in" filter="fade">
                                      <p:cBhvr>
                                        <p:cTn id="42" dur="500"/>
                                        <p:tgtEl>
                                          <p:spTgt spid="2969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29699">
                                            <p:txEl>
                                              <p:pRg st="8" end="8"/>
                                            </p:txEl>
                                          </p:spTgt>
                                        </p:tgtEl>
                                        <p:attrNameLst>
                                          <p:attrName>style.visibility</p:attrName>
                                        </p:attrNameLst>
                                      </p:cBhvr>
                                      <p:to>
                                        <p:strVal val="visible"/>
                                      </p:to>
                                    </p:set>
                                    <p:animEffect transition="in" filter="fade">
                                      <p:cBhvr>
                                        <p:cTn id="47" dur="500"/>
                                        <p:tgtEl>
                                          <p:spTgt spid="296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C14660A-2447-4C0B-9E82-566876AF9964}" type="datetime5">
              <a:rPr lang="en-US" smtClean="0"/>
              <a:t>15-Aug-16</a:t>
            </a:fld>
            <a:endParaRPr lang="en-US"/>
          </a:p>
        </p:txBody>
      </p:sp>
      <p:sp>
        <p:nvSpPr>
          <p:cNvPr id="5" name="Slide Number Placeholder 4"/>
          <p:cNvSpPr>
            <a:spLocks noGrp="1"/>
          </p:cNvSpPr>
          <p:nvPr>
            <p:ph type="sldNum" sz="quarter" idx="12"/>
          </p:nvPr>
        </p:nvSpPr>
        <p:spPr/>
        <p:txBody>
          <a:bodyPr/>
          <a:lstStyle/>
          <a:p>
            <a:pPr>
              <a:defRPr/>
            </a:pPr>
            <a:fld id="{D109DDA8-5490-464C-95EF-322D2072DCE6}" type="slidenum">
              <a:rPr lang="en-US" altLang="en-US"/>
              <a:pPr>
                <a:defRPr/>
              </a:pPr>
              <a:t>28</a:t>
            </a:fld>
            <a:endParaRPr lang="en-US" altLang="en-US"/>
          </a:p>
        </p:txBody>
      </p:sp>
      <p:pic>
        <p:nvPicPr>
          <p:cNvPr id="40964" name="Picture 2" descr="http://thinking.edynamic.net/wp-content/uploads/2015/04/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8" y="914400"/>
            <a:ext cx="8812212"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US" smtClean="0"/>
              <a:t>AXP Internal</a:t>
            </a:r>
            <a:endParaRPr lang="en-US"/>
          </a:p>
        </p:txBody>
      </p:sp>
    </p:spTree>
    <p:extLst>
      <p:ext uri="{BB962C8B-B14F-4D97-AF65-F5344CB8AC3E}">
        <p14:creationId xmlns:p14="http://schemas.microsoft.com/office/powerpoint/2010/main" val="3633239407"/>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1623</TotalTime>
  <Words>792</Words>
  <Application>Microsoft Office PowerPoint</Application>
  <PresentationFormat>On-screen Show (4:3)</PresentationFormat>
  <Paragraphs>313</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Courier New</vt:lpstr>
      <vt:lpstr>Tw Cen MT</vt:lpstr>
      <vt:lpstr>Wingdings 2</vt:lpstr>
      <vt:lpstr>Office Theme</vt:lpstr>
      <vt:lpstr> MapReduce</vt:lpstr>
      <vt:lpstr>Google WP - Jeffrey Dean and Sanjay Ghemawat</vt:lpstr>
      <vt:lpstr>DATA FLOW</vt:lpstr>
      <vt:lpstr>MapR Process</vt:lpstr>
      <vt:lpstr>PowerPoint Presentation</vt:lpstr>
      <vt:lpstr>How MapReduce Works? - Classic MapReduce</vt:lpstr>
      <vt:lpstr>PowerPoint Presentation</vt:lpstr>
      <vt:lpstr>Progress and Status Updates</vt:lpstr>
      <vt:lpstr>PowerPoint Presentation</vt:lpstr>
      <vt:lpstr>YARN - Yet Another Resource Negotiator</vt:lpstr>
      <vt:lpstr>Entities in YARN</vt:lpstr>
      <vt:lpstr>PowerPoint Presentation</vt:lpstr>
      <vt:lpstr>PowerPoint Presentation</vt:lpstr>
      <vt:lpstr>PowerPoint Presentation</vt:lpstr>
      <vt:lpstr>Efficiently merging 40 file segments with a merge factor of 10</vt:lpstr>
      <vt:lpstr>PowerPoint Presentation</vt:lpstr>
      <vt:lpstr>RecordReader</vt:lpstr>
      <vt:lpstr>Driver</vt:lpstr>
      <vt:lpstr>PowerPoint Presentation</vt:lpstr>
      <vt:lpstr>Word counting using MapReduce - Hello,World program for MapReduce</vt:lpstr>
      <vt:lpstr>PowerPoint Presentation</vt:lpstr>
      <vt:lpstr>Map o/p</vt:lpstr>
      <vt:lpstr>PowerPoint Presentation</vt:lpstr>
      <vt:lpstr>Reducer O/P</vt:lpstr>
      <vt:lpstr>PowerPoint Presentation</vt:lpstr>
      <vt:lpstr>PowerPoint Presentation</vt:lpstr>
      <vt:lpstr>hadoop ecosystem - CDH  ( Cloudera Distribution Including Apache Hadoop)</vt:lpstr>
      <vt:lpstr>PowerPoint Presentation</vt:lpstr>
    </vt:vector>
  </TitlesOfParts>
  <Company>CSC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MapR</dc:title>
  <dc:creator>Islam Ahemad Khan</dc:creator>
  <cp:lastModifiedBy>Mohd Hasnain</cp:lastModifiedBy>
  <cp:revision>44</cp:revision>
  <dcterms:created xsi:type="dcterms:W3CDTF">2014-09-14T07:56:01Z</dcterms:created>
  <dcterms:modified xsi:type="dcterms:W3CDTF">2016-08-15T14:34:43Z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XPAuthor">
    <vt:lpwstr>Mohd Hasnain</vt:lpwstr>
  </property>
  <property fmtid="{D5CDD505-2E9C-101B-9397-08002B2CF9AE}" pid="3" name="AXPDataClassification">
    <vt:lpwstr>AXP Internal</vt:lpwstr>
  </property>
  <property fmtid="{D5CDD505-2E9C-101B-9397-08002B2CF9AE}" pid="4" name="AXPDataClassificationForSearch">
    <vt:lpwstr>AXPInternal_UniqueSearchString</vt:lpwstr>
  </property>
</Properties>
</file>